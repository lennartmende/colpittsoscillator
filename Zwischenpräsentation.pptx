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678" r:id="rId2"/>
    <p:sldMasterId id="2147483688" r:id="rId3"/>
    <p:sldMasterId id="2147483693" r:id="rId4"/>
  </p:sldMasterIdLst>
  <p:notesMasterIdLst>
    <p:notesMasterId r:id="rId18"/>
  </p:notesMasterIdLst>
  <p:sldIdLst>
    <p:sldId id="256" r:id="rId5"/>
    <p:sldId id="257" r:id="rId6"/>
    <p:sldId id="258" r:id="rId7"/>
    <p:sldId id="259" r:id="rId8"/>
    <p:sldId id="260" r:id="rId9"/>
    <p:sldId id="263" r:id="rId10"/>
    <p:sldId id="264" r:id="rId11"/>
    <p:sldId id="266" r:id="rId12"/>
    <p:sldId id="267" r:id="rId13"/>
    <p:sldId id="265" r:id="rId14"/>
    <p:sldId id="268" r:id="rId15"/>
    <p:sldId id="269" r:id="rId16"/>
    <p:sldId id="26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867" userDrawn="1">
          <p15:clr>
            <a:srgbClr val="A4A3A4"/>
          </p15:clr>
        </p15:guide>
        <p15:guide id="4" orient="horz" pos="229" userDrawn="1">
          <p15:clr>
            <a:srgbClr val="A4A3A4"/>
          </p15:clr>
        </p15:guide>
        <p15:guide id="5" orient="horz" pos="680" userDrawn="1">
          <p15:clr>
            <a:srgbClr val="A4A3A4"/>
          </p15:clr>
        </p15:guide>
        <p15:guide id="6" orient="horz" pos="914" userDrawn="1">
          <p15:clr>
            <a:srgbClr val="A4A3A4"/>
          </p15:clr>
        </p15:guide>
        <p15:guide id="7" orient="horz" pos="4121" userDrawn="1">
          <p15:clr>
            <a:srgbClr val="A4A3A4"/>
          </p15:clr>
        </p15:guide>
        <p15:guide id="8" orient="horz" pos="945" userDrawn="1">
          <p15:clr>
            <a:srgbClr val="A4A3A4"/>
          </p15:clr>
        </p15:guide>
        <p15:guide id="9" pos="452" userDrawn="1">
          <p15:clr>
            <a:srgbClr val="A4A3A4"/>
          </p15:clr>
        </p15:guide>
        <p15:guide id="10" pos="7231" userDrawn="1">
          <p15:clr>
            <a:srgbClr val="A4A3A4"/>
          </p15:clr>
        </p15:guide>
        <p15:guide id="11" pos="3932" userDrawn="1">
          <p15:clr>
            <a:srgbClr val="A4A3A4"/>
          </p15:clr>
        </p15:guide>
        <p15:guide id="12" pos="3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20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588" y="96"/>
      </p:cViewPr>
      <p:guideLst>
        <p:guide orient="horz" pos="2160"/>
        <p:guide pos="3840"/>
        <p:guide orient="horz" pos="3867"/>
        <p:guide orient="horz" pos="229"/>
        <p:guide orient="horz" pos="680"/>
        <p:guide orient="horz" pos="914"/>
        <p:guide orient="horz" pos="4121"/>
        <p:guide orient="horz" pos="945"/>
        <p:guide pos="452"/>
        <p:guide pos="7231"/>
        <p:guide pos="3932"/>
        <p:guide pos="37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B6593-098D-4382-9647-35487FA190B4}" type="datetimeFigureOut">
              <a:rPr lang="de-DE" smtClean="0"/>
              <a:t>09.12.2025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03A5D1-80BE-4AF1-A18B-8D2CA75BFDA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2654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fld id="{BFBAF385-7378-4A32-85D2-65025305A3A0}" type="datetime4">
              <a:rPr lang="de-DE" smtClean="0"/>
              <a:pPr/>
              <a:t>9. Dezember 2025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6AC28FB-499D-1849-BB5A-4F591E328D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F2D1C116-76C7-2248-9B28-093803C439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0295" y="1497600"/>
            <a:ext cx="864000" cy="2804400"/>
          </a:xfrm>
          <a:solidFill>
            <a:schemeClr val="accent2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357D0EB7-C39F-6D4A-A3C7-303DC7C8CC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27705" y="1497600"/>
            <a:ext cx="864000" cy="2804400"/>
          </a:xfrm>
          <a:solidFill>
            <a:schemeClr val="accent2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266145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42174EAA-6533-1245-B1A2-E6E16AF28528}"/>
              </a:ext>
            </a:extLst>
          </p:cNvPr>
          <p:cNvGrpSpPr/>
          <p:nvPr userDrawn="1"/>
        </p:nvGrpSpPr>
        <p:grpSpPr>
          <a:xfrm>
            <a:off x="1974056" y="1069975"/>
            <a:ext cx="8243887" cy="5788025"/>
            <a:chOff x="455613" y="533400"/>
            <a:chExt cx="8243887" cy="5788025"/>
          </a:xfrm>
          <a:solidFill>
            <a:schemeClr val="accent2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DA5B3661-9CFB-FB40-B406-C44AAF2F66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CE9E062-1775-864A-90AB-4D742F810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fld id="{E4612975-D8C2-4BA9-A85C-A39EEEE43493}" type="datetime4">
              <a:rPr lang="de-DE" smtClean="0"/>
              <a:pPr/>
              <a:t>9. Dezember 2025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997D15C1-C7AC-7A4D-8A57-9FDCE7B970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40836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006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Vorname Name, Bereich Fakultät, ggf. Institut/Professur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7241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Vorname Name, Bereich Fakultät, ggf. Institut/Professur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38869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fld id="{BFBAF385-7378-4A32-85D2-65025305A3A0}" type="datetime4">
              <a:rPr lang="de-DE" smtClean="0"/>
              <a:pPr/>
              <a:t>9. Dezember 2025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A622DFD-BA6C-284F-9623-ED074C94A2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F3E97099-16DC-FB42-BC6A-1770FEA02C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5579" y="1497600"/>
            <a:ext cx="864000" cy="2804400"/>
          </a:xfrm>
          <a:solidFill>
            <a:schemeClr val="accent3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A25C51E1-4750-2945-85F5-2DB74E1241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2421" y="1497600"/>
            <a:ext cx="864000" cy="2804400"/>
          </a:xfrm>
          <a:solidFill>
            <a:schemeClr val="accent3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41308224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D9301872-D993-6045-BA77-C2A4043FA6B1}"/>
              </a:ext>
            </a:extLst>
          </p:cNvPr>
          <p:cNvGrpSpPr/>
          <p:nvPr userDrawn="1"/>
        </p:nvGrpSpPr>
        <p:grpSpPr>
          <a:xfrm>
            <a:off x="1974056" y="1069975"/>
            <a:ext cx="8243887" cy="5788025"/>
            <a:chOff x="455613" y="533400"/>
            <a:chExt cx="8243887" cy="5788025"/>
          </a:xfrm>
          <a:solidFill>
            <a:schemeClr val="accent3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C774AA1D-ECDF-CB41-A570-3B4444D2B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F9149E62-8F23-A64A-AB86-461836AFA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fld id="{E4612975-D8C2-4BA9-A85C-A39EEEE43493}" type="datetime4">
              <a:rPr lang="de-DE" smtClean="0"/>
              <a:pPr/>
              <a:t>9. Dezember 2025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E926752-3C17-B642-9FCE-11E041587E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2670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Vorname Name, Bereich Fakultät, ggf. Institut/Professur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0422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Vorname Name, Bereich Fakultät, ggf. Institut/Professur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70765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fld id="{BFBAF385-7378-4A32-85D2-65025305A3A0}" type="datetime4">
              <a:rPr lang="de-DE" smtClean="0"/>
              <a:pPr/>
              <a:t>9. Dezember 2025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dirty="0"/>
              <a:t>Lennart und Richard Mende, 25EIM-AT, E144 Regelungstheorie, Prof. Dr.-Ing. Hendrik Richter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42C24D-DF7B-5744-BA14-C2D4B5049F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E29E83A8-566C-B64B-BC0B-C9D0D2A3F37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4211" y="1497600"/>
            <a:ext cx="864000" cy="2804400"/>
          </a:xfrm>
          <a:solidFill>
            <a:schemeClr val="accent5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5B73649C-D81F-1743-8227-99DDA6EF1F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23789" y="1497600"/>
            <a:ext cx="864000" cy="2804400"/>
          </a:xfrm>
          <a:solidFill>
            <a:schemeClr val="accent5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39419C16-12A8-1707-A702-12225E4BF9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023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B30AFB43-4D8B-DB47-8F90-D120B798617A}"/>
              </a:ext>
            </a:extLst>
          </p:cNvPr>
          <p:cNvGrpSpPr/>
          <p:nvPr userDrawn="1"/>
        </p:nvGrpSpPr>
        <p:grpSpPr>
          <a:xfrm>
            <a:off x="1975200" y="1069975"/>
            <a:ext cx="8243887" cy="5788025"/>
            <a:chOff x="455613" y="533400"/>
            <a:chExt cx="8243887" cy="5788025"/>
          </a:xfrm>
          <a:solidFill>
            <a:schemeClr val="accent5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36734F59-8635-D44A-BA87-6B7074A8E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5E062F0B-6D27-F54A-90C2-2339910483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fld id="{E4612975-D8C2-4BA9-A85C-A39EEEE43493}" type="datetime4">
              <a:rPr lang="de-DE" smtClean="0"/>
              <a:pPr/>
              <a:t>9. Dezember 2025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0BE5F75-8B1B-6A4C-B19E-CA01BCB614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384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buFont typeface="+mj-lt"/>
              <a:buNone/>
              <a:defRPr sz="3200" b="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 anchor="ctr"/>
          <a:lstStyle>
            <a:lvl1pPr>
              <a:buFont typeface="Wingdings" panose="05000000000000000000" pitchFamily="2" charset="2"/>
              <a:buChar char="§"/>
              <a:defRPr sz="2000" b="0"/>
            </a:lvl1pPr>
            <a:lvl2pPr algn="l">
              <a:buFont typeface="Arial" panose="020B0604020202020204" pitchFamily="34" charset="0"/>
              <a:buNone/>
              <a:defRPr sz="2000"/>
            </a:lvl2pPr>
          </a:lstStyle>
          <a:p>
            <a:pPr lvl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Lennart und Richard Mende, 25EIM-AT, E144 Regelungstheorie, Prof. Dr.-Ing. Hendrik Richter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30272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Vorname Name, Bereich Fakultät, ggf. Institut/Professur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81845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fld id="{BFBAF385-7378-4A32-85D2-65025305A3A0}" type="datetime4">
              <a:rPr lang="de-DE" smtClean="0"/>
              <a:pPr/>
              <a:t>9. Dezember 2025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F187481-CEE0-E244-8D19-C6D3BF17E1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8F3AA80C-8F3E-4448-BA17-C530AE93C3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8505" y="1497600"/>
            <a:ext cx="864000" cy="2804400"/>
          </a:xfrm>
          <a:solidFill>
            <a:schemeClr val="accent6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A7EA0E5A-7CE1-B542-A43B-F1A4A933F3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19495" y="1485648"/>
            <a:ext cx="864000" cy="2804400"/>
          </a:xfrm>
          <a:solidFill>
            <a:schemeClr val="accent6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916358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FA1D36DE-01A5-9342-ADB5-21326DEA0306}"/>
              </a:ext>
            </a:extLst>
          </p:cNvPr>
          <p:cNvGrpSpPr/>
          <p:nvPr userDrawn="1"/>
        </p:nvGrpSpPr>
        <p:grpSpPr>
          <a:xfrm>
            <a:off x="1975200" y="1069975"/>
            <a:ext cx="8243887" cy="5788025"/>
            <a:chOff x="455613" y="533400"/>
            <a:chExt cx="8243887" cy="5788025"/>
          </a:xfrm>
          <a:solidFill>
            <a:schemeClr val="accent6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D258094-06EC-7A4A-A554-EFD3FBB518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32C1932-A302-9D42-981A-17F9E3A170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fld id="{E4612975-D8C2-4BA9-A85C-A39EEEE43493}" type="datetime4">
              <a:rPr lang="de-DE" smtClean="0"/>
              <a:pPr/>
              <a:t>9. Dezember 2025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7DCCB39A-DB2B-5543-8C44-8F9D49BAEA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2410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Vorname Name, Bereich Fakultät, ggf. Institut/Professur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82316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Vorname Name, Bereich Fakultät, ggf. Institut/Professur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58201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w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.wmf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.wmf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.wmf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1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1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31321676-94A1-7044-A81A-D8AF84667CD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420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</p:sldLayoutIdLst>
  <p:hf hdr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1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1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39AA27C4-5879-AA48-9BFE-A4EA4531032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355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</p:sldLayoutIdLst>
  <p:hf hdr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Lennart und Richard Mende, 25EIM-AT, E144 Regelungstheorie, Prof. Dr.-Ing. Hendrik Richter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5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7E49E5BC-3D57-D44A-B305-C0E3893B541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425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</p:sldLayoutIdLst>
  <p:hf hdr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0" y="396946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6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60324984-8636-8D46-ADB9-D5CB3101D43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108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</p:sldLayoutIdLst>
  <p:hf hdr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0.png"/><Relationship Id="rId4" Type="http://schemas.openxmlformats.org/officeDocument/2006/relationships/image" Target="../media/image19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8C343A5-AE4A-C666-49AA-8ABF68BEC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AF385-7378-4A32-85D2-65025305A3A0}" type="datetime4">
              <a:rPr lang="de-DE" smtClean="0"/>
              <a:pPr/>
              <a:t>9. Dezember 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91BF7CF-55E7-1C6E-7110-DCCEEBA36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Lennart und Richard Mende, 25EIM-AT, E144 Regelungstheorie, Prof. Dr.-Ing. Hendrik Richter</a:t>
            </a:r>
            <a:endParaRPr lang="de-DE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A2C9B32E-E0C2-F9E2-C85D-B19BC310EE1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r>
              <a:rPr lang="de-DE" sz="3200" b="1" dirty="0"/>
              <a:t>Zwischenpräsentation zum </a:t>
            </a:r>
            <a:r>
              <a:rPr lang="de-DE" sz="3200" b="1" dirty="0" err="1"/>
              <a:t>Colpitts</a:t>
            </a:r>
            <a:r>
              <a:rPr lang="de-DE" sz="3200" b="1" dirty="0"/>
              <a:t> Oszillator</a:t>
            </a:r>
          </a:p>
          <a:p>
            <a:endParaRPr lang="de-DE" sz="3200" b="1" dirty="0"/>
          </a:p>
          <a:p>
            <a:r>
              <a:rPr lang="de-DE" sz="3200" b="1" dirty="0"/>
              <a:t>Lennart und Richard Mende, 25EIM-AT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A2F1A4E-7EDC-8DE7-B9FC-6B766F53EE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B64F9DA-1859-2B05-E799-04C00EB176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4562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D81A61-5393-CF57-706E-A8EE9BD0D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GLIEDERUNG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FA35BA1-C7DE-7110-7589-0661DC128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de-DE" sz="2800" dirty="0"/>
              <a:t>Modellbildung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de-DE" sz="2800" dirty="0"/>
              <a:t>Gleichgewichtslage und Stabilität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de-DE" sz="2800" dirty="0"/>
              <a:t>Simulink-Modell der Regelstrecke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de-DE" sz="2800" dirty="0"/>
              <a:t>Ausblick</a:t>
            </a:r>
          </a:p>
          <a:p>
            <a:pPr>
              <a:spcAft>
                <a:spcPts val="1200"/>
              </a:spcAft>
              <a:buNone/>
            </a:pPr>
            <a:endParaRPr lang="de-DE" sz="2800" dirty="0"/>
          </a:p>
          <a:p>
            <a:pPr>
              <a:spcAft>
                <a:spcPts val="1200"/>
              </a:spcAft>
              <a:buNone/>
            </a:pPr>
            <a:endParaRPr lang="de-DE" sz="28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1B4CF33-8ED0-8B76-072A-5B9B6FCDD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Lennart und Richard Mende, 25EIM-AT, E144 Regelungstheorie, Prof. Dr.-Ing. Hendrik Richter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1A39CC2-5A79-029B-DF10-E7AACA0D9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8348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40BB80-87F3-625C-83FC-EE2762CC5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Modellbildung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8A03A2-859E-ECF7-C818-539578DB3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553" y="1614144"/>
            <a:ext cx="2940048" cy="4521544"/>
          </a:xfrm>
        </p:spPr>
        <p:txBody>
          <a:bodyPr anchor="t"/>
          <a:lstStyle/>
          <a:p>
            <a:pPr>
              <a:buNone/>
            </a:pPr>
            <a:r>
              <a:rPr lang="de-DE" dirty="0"/>
              <a:t>       Schaltkreis</a:t>
            </a:r>
          </a:p>
          <a:p>
            <a:pPr>
              <a:buNone/>
            </a:pPr>
            <a:endParaRPr lang="de-DE" dirty="0"/>
          </a:p>
          <a:p>
            <a:pPr>
              <a:buNone/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2980A8-2924-C57B-ACC5-10DEB663D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Lennart und Richard Mende, 25EIM-AT, E144 Regelungstheorie, Prof. Dr.-Ing. Hendrik Richter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DD83348-956B-DE80-23C8-8F9A2380F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3</a:t>
            </a:fld>
            <a:endParaRPr lang="de-DE"/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4E7EAAB5-621E-05A4-1E39-B14E37F74137}"/>
              </a:ext>
            </a:extLst>
          </p:cNvPr>
          <p:cNvGrpSpPr/>
          <p:nvPr/>
        </p:nvGrpSpPr>
        <p:grpSpPr>
          <a:xfrm>
            <a:off x="717549" y="2045720"/>
            <a:ext cx="3127106" cy="3658391"/>
            <a:chOff x="850534" y="1735299"/>
            <a:chExt cx="2535978" cy="2989101"/>
          </a:xfrm>
        </p:grpSpPr>
        <p:grpSp>
          <p:nvGrpSpPr>
            <p:cNvPr id="17" name="Gruppieren 16">
              <a:extLst>
                <a:ext uri="{FF2B5EF4-FFF2-40B4-BE49-F238E27FC236}">
                  <a16:creationId xmlns:a16="http://schemas.microsoft.com/office/drawing/2014/main" id="{4FF90002-1F6A-4C0C-2F84-A4756DF40782}"/>
                </a:ext>
              </a:extLst>
            </p:cNvPr>
            <p:cNvGrpSpPr/>
            <p:nvPr/>
          </p:nvGrpSpPr>
          <p:grpSpPr>
            <a:xfrm>
              <a:off x="850534" y="1735299"/>
              <a:ext cx="2535978" cy="2989101"/>
              <a:chOff x="850534" y="1735299"/>
              <a:chExt cx="2535978" cy="2989101"/>
            </a:xfrm>
          </p:grpSpPr>
          <p:grpSp>
            <p:nvGrpSpPr>
              <p:cNvPr id="15" name="Gruppieren 14">
                <a:extLst>
                  <a:ext uri="{FF2B5EF4-FFF2-40B4-BE49-F238E27FC236}">
                    <a16:creationId xmlns:a16="http://schemas.microsoft.com/office/drawing/2014/main" id="{53DFB600-9843-EB9D-4F4E-63C50DDD9467}"/>
                  </a:ext>
                </a:extLst>
              </p:cNvPr>
              <p:cNvGrpSpPr/>
              <p:nvPr/>
            </p:nvGrpSpPr>
            <p:grpSpPr>
              <a:xfrm>
                <a:off x="850534" y="1735299"/>
                <a:ext cx="2535978" cy="2989101"/>
                <a:chOff x="850534" y="1735299"/>
                <a:chExt cx="2535978" cy="2989101"/>
              </a:xfrm>
            </p:grpSpPr>
            <p:grpSp>
              <p:nvGrpSpPr>
                <p:cNvPr id="11" name="Gruppieren 10">
                  <a:extLst>
                    <a:ext uri="{FF2B5EF4-FFF2-40B4-BE49-F238E27FC236}">
                      <a16:creationId xmlns:a16="http://schemas.microsoft.com/office/drawing/2014/main" id="{F672E919-354B-E703-C8C4-5744A95F462F}"/>
                    </a:ext>
                  </a:extLst>
                </p:cNvPr>
                <p:cNvGrpSpPr/>
                <p:nvPr/>
              </p:nvGrpSpPr>
              <p:grpSpPr>
                <a:xfrm>
                  <a:off x="850534" y="1735299"/>
                  <a:ext cx="2535978" cy="2989101"/>
                  <a:chOff x="850534" y="1735299"/>
                  <a:chExt cx="2535978" cy="2989101"/>
                </a:xfrm>
              </p:grpSpPr>
              <p:pic>
                <p:nvPicPr>
                  <p:cNvPr id="7" name="Grafik 6">
                    <a:extLst>
                      <a:ext uri="{FF2B5EF4-FFF2-40B4-BE49-F238E27FC236}">
                        <a16:creationId xmlns:a16="http://schemas.microsoft.com/office/drawing/2014/main" id="{41F009A2-01E7-E4F1-BC23-4369A9F9937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rcRect b="33127"/>
                  <a:stretch>
                    <a:fillRect/>
                  </a:stretch>
                </p:blipFill>
                <p:spPr>
                  <a:xfrm>
                    <a:off x="850534" y="1735299"/>
                    <a:ext cx="2535978" cy="2989101"/>
                  </a:xfrm>
                  <a:prstGeom prst="rect">
                    <a:avLst/>
                  </a:prstGeom>
                </p:spPr>
              </p:pic>
              <p:sp>
                <p:nvSpPr>
                  <p:cNvPr id="9" name="Rechteck 8">
                    <a:extLst>
                      <a:ext uri="{FF2B5EF4-FFF2-40B4-BE49-F238E27FC236}">
                        <a16:creationId xmlns:a16="http://schemas.microsoft.com/office/drawing/2014/main" id="{43B51AB4-2618-2486-E717-F6A5972A127F}"/>
                      </a:ext>
                    </a:extLst>
                  </p:cNvPr>
                  <p:cNvSpPr/>
                  <p:nvPr/>
                </p:nvSpPr>
                <p:spPr>
                  <a:xfrm>
                    <a:off x="1724025" y="1831181"/>
                    <a:ext cx="183356" cy="154782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10" name="Rechteck 9">
                    <a:extLst>
                      <a:ext uri="{FF2B5EF4-FFF2-40B4-BE49-F238E27FC236}">
                        <a16:creationId xmlns:a16="http://schemas.microsoft.com/office/drawing/2014/main" id="{5D37E85B-D9D3-8087-0F8D-4CAF57F69B53}"/>
                      </a:ext>
                    </a:extLst>
                  </p:cNvPr>
                  <p:cNvSpPr/>
                  <p:nvPr/>
                </p:nvSpPr>
                <p:spPr>
                  <a:xfrm>
                    <a:off x="1644253" y="1831181"/>
                    <a:ext cx="342900" cy="19288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de-DE" sz="1300" b="1" dirty="0">
                        <a:solidFill>
                          <a:schemeClr val="tx1"/>
                        </a:solidFill>
                      </a:rPr>
                      <a:t>U</a:t>
                    </a:r>
                    <a:r>
                      <a:rPr lang="de-DE" sz="1300" b="1" baseline="-25000" dirty="0">
                        <a:solidFill>
                          <a:schemeClr val="tx1"/>
                        </a:solidFill>
                      </a:rPr>
                      <a:t>0</a:t>
                    </a:r>
                  </a:p>
                </p:txBody>
              </p:sp>
            </p:grpSp>
            <p:sp>
              <p:nvSpPr>
                <p:cNvPr id="13" name="Rechteck 12">
                  <a:extLst>
                    <a:ext uri="{FF2B5EF4-FFF2-40B4-BE49-F238E27FC236}">
                      <a16:creationId xmlns:a16="http://schemas.microsoft.com/office/drawing/2014/main" id="{0EE88D9F-9A61-7F3E-FBBE-D15E75D17797}"/>
                    </a:ext>
                  </a:extLst>
                </p:cNvPr>
                <p:cNvSpPr/>
                <p:nvPr/>
              </p:nvSpPr>
              <p:spPr>
                <a:xfrm>
                  <a:off x="2730499" y="3274217"/>
                  <a:ext cx="212725" cy="1897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4" name="Rechteck 13">
                  <a:extLst>
                    <a:ext uri="{FF2B5EF4-FFF2-40B4-BE49-F238E27FC236}">
                      <a16:creationId xmlns:a16="http://schemas.microsoft.com/office/drawing/2014/main" id="{8AA23B95-19B3-8315-2070-F07F47F4BB45}"/>
                    </a:ext>
                  </a:extLst>
                </p:cNvPr>
                <p:cNvSpPr/>
                <p:nvPr/>
              </p:nvSpPr>
              <p:spPr>
                <a:xfrm>
                  <a:off x="2730499" y="4001292"/>
                  <a:ext cx="212725" cy="1897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sp>
            <p:nvSpPr>
              <p:cNvPr id="16" name="Rechteck 15">
                <a:extLst>
                  <a:ext uri="{FF2B5EF4-FFF2-40B4-BE49-F238E27FC236}">
                    <a16:creationId xmlns:a16="http://schemas.microsoft.com/office/drawing/2014/main" id="{1CEF9601-B93E-DB7A-4B78-0846A8EE45CA}"/>
                  </a:ext>
                </a:extLst>
              </p:cNvPr>
              <p:cNvSpPr/>
              <p:nvPr/>
            </p:nvSpPr>
            <p:spPr>
              <a:xfrm>
                <a:off x="2565401" y="3642517"/>
                <a:ext cx="768350" cy="189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313A2DE5-A014-E9A6-DEB3-D245B6A86793}"/>
                </a:ext>
              </a:extLst>
            </p:cNvPr>
            <p:cNvSpPr/>
            <p:nvPr/>
          </p:nvSpPr>
          <p:spPr>
            <a:xfrm>
              <a:off x="2634852" y="3259956"/>
              <a:ext cx="342900" cy="19288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300" b="1" dirty="0">
                  <a:solidFill>
                    <a:schemeClr val="tx1"/>
                  </a:solidFill>
                </a:rPr>
                <a:t>U</a:t>
              </a:r>
              <a:r>
                <a:rPr lang="de-DE" sz="1300" b="1" baseline="-250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2AD17927-357E-7A73-8D70-487792556E0C}"/>
                </a:ext>
              </a:extLst>
            </p:cNvPr>
            <p:cNvSpPr/>
            <p:nvPr/>
          </p:nvSpPr>
          <p:spPr>
            <a:xfrm>
              <a:off x="2634852" y="3988989"/>
              <a:ext cx="342900" cy="19288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300" b="1" dirty="0">
                  <a:solidFill>
                    <a:schemeClr val="tx1"/>
                  </a:solidFill>
                </a:rPr>
                <a:t>U</a:t>
              </a:r>
              <a:r>
                <a:rPr lang="de-DE" sz="1300" b="1" baseline="-25000" dirty="0">
                  <a:solidFill>
                    <a:schemeClr val="tx1"/>
                  </a:solidFill>
                </a:rPr>
                <a:t>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Inhaltsplatzhalter 2">
                <a:extLst>
                  <a:ext uri="{FF2B5EF4-FFF2-40B4-BE49-F238E27FC236}">
                    <a16:creationId xmlns:a16="http://schemas.microsoft.com/office/drawing/2014/main" id="{4D3EDCD6-0E16-BAA8-33E6-68DBF39A27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95851" y="1614144"/>
                <a:ext cx="4012979" cy="4521544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buFont typeface="Wingdings" panose="05000000000000000000" pitchFamily="2" charset="2"/>
                  <a:buChar char="§"/>
                  <a:defRPr sz="2000" b="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0" indent="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0000" indent="-18000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425"/>
                  </a:spcAft>
                  <a:buFont typeface="Work Sans" panose="00000500000000000000" pitchFamily="2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360000" indent="-18000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425"/>
                  </a:spcAft>
                  <a:buFont typeface="Work Sans" panose="00000500000000000000" pitchFamily="2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18000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425"/>
                  </a:spcAft>
                  <a:buFont typeface="Work Sans" panose="00000500000000000000" pitchFamily="2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r>
                  <a:rPr lang="de-DE" dirty="0"/>
                  <a:t>     Zustandsraummodell</a:t>
                </a:r>
              </a:p>
              <a:p>
                <a:pPr>
                  <a:buFont typeface="Wingdings" panose="05000000000000000000" pitchFamily="2" charset="2"/>
                  <a:buNone/>
                </a:pPr>
                <a:endParaRPr lang="de-DE" dirty="0"/>
              </a:p>
              <a:p>
                <a:pPr>
                  <a:spcAft>
                    <a:spcPts val="1800"/>
                  </a:spcAft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de-DE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func>
                        <m:func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de-DE" b="0" dirty="0"/>
              </a:p>
              <a:p>
                <a:pPr>
                  <a:spcAft>
                    <a:spcPts val="1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de-DE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  <a:p>
                <a:pPr>
                  <a:spcAft>
                    <a:spcPts val="1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de-DE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  <a:p>
                <a:pPr>
                  <a:buFont typeface="Wingdings" panose="05000000000000000000" pitchFamily="2" charset="2"/>
                  <a:buNone/>
                </a:pPr>
                <a:endParaRPr lang="de-DE" dirty="0"/>
              </a:p>
              <a:p>
                <a:pPr>
                  <a:buFont typeface="Wingdings" panose="05000000000000000000" pitchFamily="2" charset="2"/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23" name="Inhaltsplatzhalter 2">
                <a:extLst>
                  <a:ext uri="{FF2B5EF4-FFF2-40B4-BE49-F238E27FC236}">
                    <a16:creationId xmlns:a16="http://schemas.microsoft.com/office/drawing/2014/main" id="{4D3EDCD6-0E16-BAA8-33E6-68DBF39A2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851" y="1614144"/>
                <a:ext cx="4012979" cy="4521544"/>
              </a:xfrm>
              <a:prstGeom prst="rect">
                <a:avLst/>
              </a:prstGeom>
              <a:blipFill>
                <a:blip r:embed="rId3"/>
                <a:stretch>
                  <a:fillRect t="-175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feld 23">
            <a:extLst>
              <a:ext uri="{FF2B5EF4-FFF2-40B4-BE49-F238E27FC236}">
                <a16:creationId xmlns:a16="http://schemas.microsoft.com/office/drawing/2014/main" id="{C258D011-FEF6-9DEA-476B-892A3EB9B027}"/>
              </a:ext>
            </a:extLst>
          </p:cNvPr>
          <p:cNvSpPr txBox="1"/>
          <p:nvPr/>
        </p:nvSpPr>
        <p:spPr>
          <a:xfrm>
            <a:off x="3844655" y="5458234"/>
            <a:ext cx="548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Quelle: G.M. Maggio et al., Nonlinear Analysis of the Colpitts Oscillator and Applications to Design, IEEE Trans. Circuits and Systems 46, 1118-1130, 1999</a:t>
            </a:r>
            <a:endParaRPr lang="de-DE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Inhaltsplatzhalter 2">
                <a:extLst>
                  <a:ext uri="{FF2B5EF4-FFF2-40B4-BE49-F238E27FC236}">
                    <a16:creationId xmlns:a16="http://schemas.microsoft.com/office/drawing/2014/main" id="{66174865-88D6-586B-DF28-0C22A9D467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34401" y="1614143"/>
                <a:ext cx="3053751" cy="4521544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buFont typeface="Wingdings" panose="05000000000000000000" pitchFamily="2" charset="2"/>
                  <a:buChar char="§"/>
                  <a:defRPr sz="2000" b="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0" indent="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0000" indent="-18000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425"/>
                  </a:spcAft>
                  <a:buFont typeface="Work Sans" panose="00000500000000000000" pitchFamily="2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360000" indent="-18000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425"/>
                  </a:spcAft>
                  <a:buFont typeface="Work Sans" panose="00000500000000000000" pitchFamily="2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18000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425"/>
                  </a:spcAft>
                  <a:buFont typeface="Work Sans" panose="00000500000000000000" pitchFamily="2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Aft>
                    <a:spcPts val="600"/>
                  </a:spcAft>
                  <a:buFont typeface="Wingdings" panose="05000000000000000000" pitchFamily="2" charset="2"/>
                  <a:buNone/>
                </a:pPr>
                <a:r>
                  <a:rPr lang="de-DE" dirty="0"/>
                  <a:t>Parameterwerte</a:t>
                </a:r>
              </a:p>
              <a:p>
                <a:pPr>
                  <a:buFont typeface="Wingdings" panose="05000000000000000000" pitchFamily="2" charset="2"/>
                  <a:buNone/>
                </a:pPr>
                <a:endParaRPr lang="de-DE" dirty="0"/>
              </a:p>
              <a:p>
                <a:pPr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=10 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𝑛𝐴</m:t>
                      </m:r>
                    </m:oMath>
                  </m:oMathPara>
                </a14:m>
                <a:endParaRPr lang="de-DE" dirty="0"/>
              </a:p>
              <a:p>
                <a:pPr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  <m:r>
                        <a:rPr lang="de-DE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≈26 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𝑚𝑉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</a:rPr>
                            <m:t>ϑ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=25 °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  <a:p>
                <a:pPr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00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𝑛𝐹</m:t>
                      </m:r>
                    </m:oMath>
                  </m:oMathPara>
                </a14:m>
                <a:endParaRPr lang="de-DE" dirty="0"/>
              </a:p>
              <a:p>
                <a:pPr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=1 </m:t>
                      </m:r>
                      <m:r>
                        <a:rPr lang="de-DE" b="0" i="1" smtClean="0">
                          <a:effectLst/>
                          <a:latin typeface="Cambria Math" panose="02040503050406030204" pitchFamily="18" charset="0"/>
                        </a:rPr>
                        <m:t>µ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de-DE" i="1" dirty="0"/>
              </a:p>
              <a:p>
                <a:pPr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=1 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de-DE" dirty="0"/>
              </a:p>
              <a:p>
                <a:pPr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=100 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𝑚𝐻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5" name="Inhaltsplatzhalter 2">
                <a:extLst>
                  <a:ext uri="{FF2B5EF4-FFF2-40B4-BE49-F238E27FC236}">
                    <a16:creationId xmlns:a16="http://schemas.microsoft.com/office/drawing/2014/main" id="{66174865-88D6-586B-DF28-0C22A9D46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4401" y="1614143"/>
                <a:ext cx="3053751" cy="4521544"/>
              </a:xfrm>
              <a:prstGeom prst="rect">
                <a:avLst/>
              </a:prstGeom>
              <a:blipFill>
                <a:blip r:embed="rId4"/>
                <a:stretch>
                  <a:fillRect t="-175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6004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61EA91-CB12-2752-12FE-671CD7186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Gleichgewichtslage und Stabilität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0008C0D-2FB4-97CE-B921-231418BFB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Lennart und Richard Mende, 25EIM-AT, E144 Regelungstheorie, Prof. Dr.-Ing. Hendrik Richter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BCEA832-7AE2-CCA3-A69D-E5378C921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4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C17257B7-11A3-DCDF-61BC-A1228F4C6A1F}"/>
                  </a:ext>
                </a:extLst>
              </p:cNvPr>
              <p:cNvSpPr txBox="1"/>
              <p:nvPr/>
            </p:nvSpPr>
            <p:spPr>
              <a:xfrm>
                <a:off x="962678" y="1581315"/>
                <a:ext cx="9129723" cy="1847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1200"/>
                  </a:spcAft>
                </a:pPr>
                <a:r>
                  <a:rPr lang="de-DE" sz="2400" b="1" dirty="0"/>
                  <a:t>Gleichgewichtslage</a:t>
                </a:r>
                <a:endParaRPr lang="de-DE" sz="2400" b="0" i="1" dirty="0">
                  <a:latin typeface="Cambria Math" panose="02040503050406030204" pitchFamily="18" charset="0"/>
                </a:endParaRPr>
              </a:p>
              <a:p>
                <a:pPr>
                  <a:buNone/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DE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de-DE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de-DE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de-DE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de-DE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de-DE" sz="2400" i="1">
                                                <a:latin typeface="Cambria Math" panose="02040503050406030204" pitchFamily="18" charset="0"/>
                                              </a:rPr>
                                              <m:t>𝑈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de-DE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de-DE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de-DE" sz="24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de-DE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𝐼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de-DE" sz="2400" b="0" i="1" smtClean="0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DE" sz="2400" dirty="0"/>
                  <a:t>   →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de-DE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de-DE" sz="2400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acc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de-DE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de-DE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de-DE" sz="2400" i="1">
                                                <a:latin typeface="Cambria Math" panose="02040503050406030204" pitchFamily="18" charset="0"/>
                                              </a:rPr>
                                              <m:t>𝑈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de-DE" sz="24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de-DE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de-DE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de-DE" sz="2400" i="1">
                                                <a:latin typeface="Cambria Math" panose="02040503050406030204" pitchFamily="18" charset="0"/>
                                              </a:rPr>
                                              <m:t>𝐼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de-DE" sz="2400" i="1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+0.0257</m:t>
                              </m:r>
                              <m:func>
                                <m:func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DE" sz="2400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10</m:t>
                                          </m:r>
                                        </m:e>
                                        <m:sup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8</m:t>
                                          </m:r>
                                        </m:sup>
                                      </m:sSup>
                                      <m:sSub>
                                        <m:sSubPr>
                                          <m:ctrlP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de-DE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de-DE" sz="2400" i="1">
                                                  <a:latin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de-DE" sz="2400" i="1">
                                        <a:latin typeface="Cambria Math" panose="02040503050406030204" pitchFamily="18" charset="0"/>
                                      </a:rPr>
                                      <m:t>−0.0257</m:t>
                                    </m:r>
                                    <m:func>
                                      <m:funcPr>
                                        <m:ctrlPr>
                                          <a:rPr lang="de-DE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de-DE" sz="2400">
                                            <a:latin typeface="Cambria Math" panose="02040503050406030204" pitchFamily="18" charset="0"/>
                                          </a:rPr>
                                          <m:t>ln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de-DE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de-DE" sz="24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de-DE" sz="2400" i="1">
                                                    <a:latin typeface="Cambria Math" panose="02040503050406030204" pitchFamily="18" charset="0"/>
                                                  </a:rPr>
                                                  <m:t>10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de-DE" sz="2400" i="1">
                                                    <a:latin typeface="Cambria Math" panose="02040503050406030204" pitchFamily="18" charset="0"/>
                                                  </a:rPr>
                                                  <m:t>8</m:t>
                                                </m:r>
                                              </m:sup>
                                            </m:sSup>
                                            <m:sSub>
                                              <m:sSubPr>
                                                <m:ctrlPr>
                                                  <a:rPr lang="de-DE" sz="24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de-DE" sz="2400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  <m:acc>
                                                  <m:accPr>
                                                    <m:chr m:val="̅"/>
                                                    <m:ctrlPr>
                                                      <a:rPr lang="de-DE" sz="24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de-DE" sz="24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𝐼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de-DE" sz="2400" i="1"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func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de-DE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de-DE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de-DE" sz="2400" i="1">
                                                <a:latin typeface="Cambria Math" panose="02040503050406030204" pitchFamily="18" charset="0"/>
                                              </a:rPr>
                                              <m:t>𝐼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de-DE" sz="24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de-DE" sz="2400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C17257B7-11A3-DCDF-61BC-A1228F4C6A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678" y="1581315"/>
                <a:ext cx="9129723" cy="1847685"/>
              </a:xfrm>
              <a:prstGeom prst="rect">
                <a:avLst/>
              </a:prstGeom>
              <a:blipFill>
                <a:blip r:embed="rId2"/>
                <a:stretch>
                  <a:fillRect t="-230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A2D03D31-76A2-6A5C-2351-637D033C3C41}"/>
              </a:ext>
            </a:extLst>
          </p:cNvPr>
          <p:cNvGrpSpPr/>
          <p:nvPr/>
        </p:nvGrpSpPr>
        <p:grpSpPr>
          <a:xfrm>
            <a:off x="2351951" y="3775678"/>
            <a:ext cx="6783423" cy="2626360"/>
            <a:chOff x="879895" y="3467428"/>
            <a:chExt cx="6081622" cy="26263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E4FE315E-6C09-A39C-8369-183CADC17853}"/>
                    </a:ext>
                  </a:extLst>
                </p:cNvPr>
                <p:cNvSpPr txBox="1"/>
                <p:nvPr/>
              </p:nvSpPr>
              <p:spPr>
                <a:xfrm>
                  <a:off x="879895" y="3467428"/>
                  <a:ext cx="6081622" cy="26263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1200"/>
                    </a:spcAft>
                  </a:pPr>
                  <a:r>
                    <a:rPr lang="de-DE" sz="2400" b="1" dirty="0"/>
                    <a:t>Jacobi-Matrix am Arbeitspunkt</a:t>
                  </a:r>
                  <a:endParaRPr lang="de-DE" sz="24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begChr m:val=""/>
                            <m:endChr m:val="|"/>
                            <m:ctrlPr>
                              <a:rPr lang="de-DE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de-DE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e-DE" sz="24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de-DE" sz="24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de-DE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           =</m:t>
                        </m:r>
                        <m:d>
                          <m:dPr>
                            <m:ctrlPr>
                              <a:rPr lang="de-DE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de-DE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  <m:t>3.85</m:t>
                                  </m:r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p>
                                    <m:sSup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de-DE" sz="2400" b="0" i="1" smtClean="0"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  <m:e>
                                  <m:sSup>
                                    <m:sSup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de-DE" sz="2400" b="0" i="1" smtClean="0"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sup>
                                  </m:sSup>
                                </m:e>
                              </m:mr>
                              <m:mr>
                                <m:e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sSup>
                                    <m:sSup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de-DE" sz="2400" b="0" i="1" smtClean="0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sup>
                                  </m:sSup>
                                </m:e>
                              </m:mr>
                              <m:mr>
                                <m:e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  <m:t>−10</m:t>
                                  </m:r>
                                </m:e>
                                <m:e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  <m:t>−10</m:t>
                                  </m:r>
                                </m:e>
                                <m:e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de-DE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e-DE" sz="2400" b="0" i="1" smtClean="0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de-DE" sz="2400" b="0" i="1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sup>
                                  </m:sSup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de-DE" sz="2400" i="1" dirty="0"/>
                </a:p>
              </p:txBody>
            </p:sp>
          </mc:Choice>
          <mc:Fallback xmlns=""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E4FE315E-6C09-A39C-8369-183CADC178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895" y="3467428"/>
                  <a:ext cx="6081622" cy="2626360"/>
                </a:xfrm>
                <a:prstGeom prst="rect">
                  <a:avLst/>
                </a:prstGeom>
                <a:blipFill>
                  <a:blip r:embed="rId3"/>
                  <a:stretch>
                    <a:fillRect t="-1624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768BFB70-37A2-BCF6-9CAE-DCBE0A85B102}"/>
                    </a:ext>
                  </a:extLst>
                </p:cNvPr>
                <p:cNvSpPr txBox="1"/>
                <p:nvPr/>
              </p:nvSpPr>
              <p:spPr>
                <a:xfrm>
                  <a:off x="1864563" y="4737602"/>
                  <a:ext cx="144923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̅"/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oMath>
                    </m:oMathPara>
                  </a14:m>
                  <a:endParaRPr lang="de-DE" sz="2400" dirty="0"/>
                </a:p>
              </p:txBody>
            </p:sp>
          </mc:Choice>
          <mc:Fallback xmlns="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768BFB70-37A2-BCF6-9CAE-DCBE0A85B1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4563" y="4737602"/>
                  <a:ext cx="1449237" cy="461665"/>
                </a:xfrm>
                <a:prstGeom prst="rect">
                  <a:avLst/>
                </a:prstGeom>
                <a:blipFill>
                  <a:blip r:embed="rId4"/>
                  <a:stretch>
                    <a:fillRect r="-1132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57500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B460FB-F756-D63B-C6D5-BC968B4E0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Gleichgewichtslage und Stabilität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CD26419-66A2-DA5E-0DC7-DD56C74B3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Lennart und Richard Mende, 25EIM-AT, E144 Regelungstheorie, Prof. Dr.-Ing. Hendrik Richter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64AF92-4B58-BDFB-2435-F27A2CDB8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5</a:t>
            </a:fld>
            <a:endParaRPr lang="de-DE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13DE0BEC-B3D9-994F-37F4-F8950C5DCDDF}"/>
              </a:ext>
            </a:extLst>
          </p:cNvPr>
          <p:cNvGrpSpPr/>
          <p:nvPr/>
        </p:nvGrpSpPr>
        <p:grpSpPr>
          <a:xfrm>
            <a:off x="717550" y="1555370"/>
            <a:ext cx="10841846" cy="4329206"/>
            <a:chOff x="1543614" y="1675459"/>
            <a:chExt cx="9237502" cy="43292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B2EE3EAB-FCDD-1903-E5E8-82A158EAC4B1}"/>
                    </a:ext>
                  </a:extLst>
                </p:cNvPr>
                <p:cNvSpPr txBox="1"/>
                <p:nvPr/>
              </p:nvSpPr>
              <p:spPr>
                <a:xfrm>
                  <a:off x="1698890" y="3773285"/>
                  <a:ext cx="9082226" cy="22313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1800"/>
                    </a:spcAf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acc>
                            <m:accPr>
                              <m:chr m:val="̅"/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𝑘𝑟𝑖𝑡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𝑅𝑒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𝑒𝑖𝑔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1,2,3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( 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))&lt;0</m:t>
                      </m:r>
                    </m:oMath>
                  </a14:m>
                  <a:r>
                    <a:rPr lang="de-DE" sz="2400" i="1" dirty="0"/>
                    <a:t> → </a:t>
                  </a:r>
                  <a:r>
                    <a:rPr lang="de-DE" sz="2400" b="1" dirty="0"/>
                    <a:t>lokale Stabilität</a:t>
                  </a:r>
                </a:p>
                <a:p>
                  <a:pPr>
                    <a:spcAft>
                      <a:spcPts val="3000"/>
                    </a:spcAf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de-DE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𝑘𝑟𝑖𝑡</m:t>
                          </m:r>
                        </m:sub>
                      </m:sSub>
                      <m:r>
                        <a:rPr lang="de-DE" sz="2400" i="1">
                          <a:latin typeface="Cambria Math" panose="020405030504060302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𝑅𝑒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𝑒𝑖𝑔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))&lt; 0 </m:t>
                      </m:r>
                      <m:r>
                        <m:rPr>
                          <m:sty m:val="p"/>
                        </m:rPr>
                        <a:rPr lang="de-DE" sz="2400" b="0" i="1" smtClean="0">
                          <a:latin typeface="Cambria Math" panose="02040503050406030204" pitchFamily="18" charset="0"/>
                        </a:rPr>
                        <m:t>und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𝑅𝑒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𝑒𝑖𝑔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2,3</m:t>
                          </m:r>
                        </m:sub>
                      </m:sSub>
                      <m:r>
                        <a:rPr lang="de-DE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))&gt;0</m:t>
                      </m:r>
                    </m:oMath>
                  </a14:m>
                  <a:r>
                    <a:rPr lang="de-DE" sz="2400" i="1" dirty="0"/>
                    <a:t> → </a:t>
                  </a:r>
                  <a:r>
                    <a:rPr lang="de-DE" sz="2400" b="1" dirty="0"/>
                    <a:t>keine lokale Stabilität</a:t>
                  </a:r>
                </a:p>
                <a:p>
                  <a:pPr algn="ctr">
                    <a:spcAft>
                      <a:spcPts val="1800"/>
                    </a:spcAft>
                  </a:pPr>
                  <a:r>
                    <a:rPr lang="de-DE" sz="2400" b="1" dirty="0"/>
                    <a:t>Bifurkation (Phänomen nichtlinearer Systeme)</a:t>
                  </a:r>
                </a:p>
              </p:txBody>
            </p:sp>
          </mc:Choice>
          <mc:Fallback xmlns=""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B2EE3EAB-FCDD-1903-E5E8-82A158EAC4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98890" y="3773285"/>
                  <a:ext cx="9082226" cy="2231380"/>
                </a:xfrm>
                <a:prstGeom prst="rect">
                  <a:avLst/>
                </a:prstGeom>
                <a:blipFill>
                  <a:blip r:embed="rId2"/>
                  <a:stretch>
                    <a:fillRect l="-172" t="-1913" r="-515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feld 15">
                  <a:extLst>
                    <a:ext uri="{FF2B5EF4-FFF2-40B4-BE49-F238E27FC236}">
                      <a16:creationId xmlns:a16="http://schemas.microsoft.com/office/drawing/2014/main" id="{AE5E65BF-5078-75CC-55B4-83C348E178A6}"/>
                    </a:ext>
                  </a:extLst>
                </p:cNvPr>
                <p:cNvSpPr txBox="1"/>
                <p:nvPr/>
              </p:nvSpPr>
              <p:spPr>
                <a:xfrm>
                  <a:off x="3486405" y="2966355"/>
                  <a:ext cx="2260895" cy="484748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de-DE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e-DE" sz="2400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acc>
                          </m:e>
                          <m:sub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𝑘𝑟𝑖𝑡</m:t>
                            </m:r>
                          </m:sub>
                        </m:s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=2.83 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𝑚𝐴</m:t>
                        </m:r>
                      </m:oMath>
                    </m:oMathPara>
                  </a14:m>
                  <a:endParaRPr lang="de-DE" sz="2400" i="1" dirty="0"/>
                </a:p>
              </p:txBody>
            </p:sp>
          </mc:Choice>
          <mc:Fallback xmlns="">
            <p:sp>
              <p:nvSpPr>
                <p:cNvPr id="16" name="Textfeld 15">
                  <a:extLst>
                    <a:ext uri="{FF2B5EF4-FFF2-40B4-BE49-F238E27FC236}">
                      <a16:creationId xmlns:a16="http://schemas.microsoft.com/office/drawing/2014/main" id="{AE5E65BF-5078-75CC-55B4-83C348E178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86405" y="2966355"/>
                  <a:ext cx="2260895" cy="48474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CAD9FA59-B122-1F24-3331-A79E05AB360C}"/>
                    </a:ext>
                  </a:extLst>
                </p:cNvPr>
                <p:cNvSpPr txBox="1"/>
                <p:nvPr/>
              </p:nvSpPr>
              <p:spPr>
                <a:xfrm>
                  <a:off x="1543614" y="1675459"/>
                  <a:ext cx="6306424" cy="10011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1200"/>
                    </a:spcAft>
                  </a:pPr>
                  <a:r>
                    <a:rPr lang="de-DE" sz="2400" b="1" dirty="0"/>
                    <a:t>Aussagen zur lokalen Stabilität</a:t>
                  </a:r>
                  <a:endParaRPr lang="de-DE" sz="2400" dirty="0"/>
                </a:p>
                <a:p>
                  <a:pPr algn="ctr"/>
                  <a:r>
                    <a:rPr lang="de-DE" sz="2400" dirty="0"/>
                    <a:t>lokale Stabilität, falls gilt: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𝑅𝑒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𝑒𝑖𝑔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1,2,3</m:t>
                          </m:r>
                        </m:sub>
                      </m:sSub>
                      <m:r>
                        <a:rPr lang="de-DE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))&lt; 0</m:t>
                      </m:r>
                    </m:oMath>
                  </a14:m>
                  <a:endParaRPr lang="de-DE" sz="2400" i="1" dirty="0"/>
                </a:p>
              </p:txBody>
            </p:sp>
          </mc:Choice>
          <mc:Fallback xmlns="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CAD9FA59-B122-1F24-3331-A79E05AB36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43614" y="1675459"/>
                  <a:ext cx="6306424" cy="1001108"/>
                </a:xfrm>
                <a:prstGeom prst="rect">
                  <a:avLst/>
                </a:prstGeom>
                <a:blipFill>
                  <a:blip r:embed="rId4"/>
                  <a:stretch>
                    <a:fillRect t="-4268" b="-11585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295400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57D46-1321-04DA-04FD-373CFB3C7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5E180B-0916-6A70-C00A-48FF63A13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Simulink-Modell der Regelstrecke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1D77632-6247-D138-A25B-3877C3737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Lennart und Richard Mende, 25EIM-AT, E144 Regelungstheorie, Prof. Dr.-Ing. Hendrik Richter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22B37F7-0FC6-23A9-D7D6-CD6FE1916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6</a:t>
            </a:fld>
            <a:endParaRPr lang="de-DE"/>
          </a:p>
        </p:txBody>
      </p:sp>
      <p:pic>
        <p:nvPicPr>
          <p:cNvPr id="6" name="Grafik 5" descr="Ein Bild, das Diagramm, Reihe, technische Zeichnung, Entwurf enthält.&#10;&#10;KI-generierte Inhalte können fehlerhaft sein.">
            <a:extLst>
              <a:ext uri="{FF2B5EF4-FFF2-40B4-BE49-F238E27FC236}">
                <a16:creationId xmlns:a16="http://schemas.microsoft.com/office/drawing/2014/main" id="{0C7B2146-CE2F-DB2F-D296-C712A84E7B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531" y="1518375"/>
            <a:ext cx="8298144" cy="4082883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407CD422-3E3E-0DED-EF5B-801667C70E4C}"/>
              </a:ext>
            </a:extLst>
          </p:cNvPr>
          <p:cNvSpPr/>
          <p:nvPr/>
        </p:nvSpPr>
        <p:spPr>
          <a:xfrm>
            <a:off x="1581150" y="1428750"/>
            <a:ext cx="3457575" cy="11525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0674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B1B09-36D8-E039-9A52-E25E68357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5EB1AB-A99D-FC8D-AB7A-9581BAF66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Simulink-Modell der Regelstrecke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E010ABB2-3058-5A52-024C-54D6FF97B5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9524" y="1445220"/>
                <a:ext cx="10094927" cy="4690468"/>
              </a:xfrm>
            </p:spPr>
            <p:txBody>
              <a:bodyPr anchor="t"/>
              <a:lstStyle/>
              <a:p>
                <a:pPr>
                  <a:buNone/>
                </a:pPr>
                <a:r>
                  <a:rPr lang="de-DE" b="1" dirty="0"/>
                  <a:t>Zeitlicher Verlauf von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1" i="1" smtClean="0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de-DE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de-DE" b="1" dirty="0"/>
                  <a:t> für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de-DE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b="1" i="1">
                                <a:latin typeface="Cambria Math" panose="02040503050406030204" pitchFamily="18" charset="0"/>
                              </a:rPr>
                              <m:t>𝑰</m:t>
                            </m:r>
                          </m:e>
                        </m:acc>
                      </m:e>
                      <m:sub>
                        <m:r>
                          <a:rPr lang="de-DE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de-DE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de-DE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1" i="1" smtClean="0">
                        <a:latin typeface="Cambria Math" panose="02040503050406030204" pitchFamily="18" charset="0"/>
                      </a:rPr>
                      <m:t>𝒎𝑨</m:t>
                    </m:r>
                    <m:r>
                      <a:rPr lang="de-DE" b="1" i="1" smtClean="0">
                        <a:latin typeface="Cambria Math" panose="02040503050406030204" pitchFamily="18" charset="0"/>
                      </a:rPr>
                      <m:t> &lt;</m:t>
                    </m:r>
                    <m:sSub>
                      <m:sSubPr>
                        <m:ctrlPr>
                          <a:rPr lang="de-D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de-DE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b="1" i="1">
                                <a:latin typeface="Cambria Math" panose="02040503050406030204" pitchFamily="18" charset="0"/>
                              </a:rPr>
                              <m:t>𝑰</m:t>
                            </m:r>
                          </m:e>
                        </m:acc>
                      </m:e>
                      <m:sub>
                        <m:r>
                          <a:rPr lang="de-DE" b="1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de-DE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b="1" i="1">
                            <a:latin typeface="Cambria Math" panose="02040503050406030204" pitchFamily="18" charset="0"/>
                          </a:rPr>
                          <m:t>𝒌𝒓𝒊𝒕</m:t>
                        </m:r>
                      </m:sub>
                    </m:sSub>
                  </m:oMath>
                </a14:m>
                <a:endParaRPr lang="de-DE" b="1" i="1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E010ABB2-3058-5A52-024C-54D6FF97B5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9524" y="1445220"/>
                <a:ext cx="10094927" cy="4690468"/>
              </a:xfrm>
              <a:blipFill>
                <a:blip r:embed="rId2"/>
                <a:stretch>
                  <a:fillRect l="-1510" t="-129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C5853C3-33F4-1138-48C6-83E274AB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Lennart und Richard Mende, 25EIM-AT, E144 Regelungstheorie, Prof. Dr.-Ing. Hendrik Richter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3B7C3D3-EE58-A6B0-86C1-C25DA6B69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7</a:t>
            </a:fld>
            <a:endParaRPr lang="de-DE"/>
          </a:p>
        </p:txBody>
      </p:sp>
      <p:pic>
        <p:nvPicPr>
          <p:cNvPr id="19" name="Grafik 18" descr="Ein Bild, das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9FC57842-BB36-19FC-2CB5-52AE2240D1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9524" y="1953382"/>
            <a:ext cx="7286400" cy="396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F955721B-6BA5-D4AF-7EF4-F0729C4400E9}"/>
                  </a:ext>
                </a:extLst>
              </p:cNvPr>
              <p:cNvSpPr txBox="1"/>
              <p:nvPr/>
            </p:nvSpPr>
            <p:spPr>
              <a:xfrm>
                <a:off x="8746649" y="2615121"/>
                <a:ext cx="1915600" cy="461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de-DE" sz="240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.31 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de-DE" sz="2400" i="1" dirty="0"/>
              </a:p>
            </p:txBody>
          </p:sp>
        </mc:Choice>
        <mc:Fallback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F955721B-6BA5-D4AF-7EF4-F0729C440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6649" y="2615121"/>
                <a:ext cx="1915600" cy="461665"/>
              </a:xfrm>
              <a:prstGeom prst="rect">
                <a:avLst/>
              </a:prstGeom>
              <a:blipFill>
                <a:blip r:embed="rId4"/>
                <a:stretch>
                  <a:fillRect l="-316" b="-12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0216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D4B29-11BD-6FAA-2D62-1BF0079FC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65B9D5-4254-043D-97D2-39167D1F9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Simulink-Modell der Regelstrecke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9ECF4D0-C173-B14A-5963-FA2EDE30C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Lennart und Richard Mende, 25EIM-AT, E144 Regelungstheorie, Prof. Dr.-Ing. Hendrik Richter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5AD5DFF-0BE4-D3A9-CEFC-2AA51FA20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8</a:t>
            </a:fld>
            <a:endParaRPr lang="de-DE"/>
          </a:p>
        </p:txBody>
      </p:sp>
      <p:pic>
        <p:nvPicPr>
          <p:cNvPr id="7" name="Grafik 6" descr="Ein Bild, das Screenshot, Display enthält.&#10;&#10;KI-generierte Inhalte können fehlerhaft sein.">
            <a:extLst>
              <a:ext uri="{FF2B5EF4-FFF2-40B4-BE49-F238E27FC236}">
                <a16:creationId xmlns:a16="http://schemas.microsoft.com/office/drawing/2014/main" id="{CCA91063-7B87-7B42-D235-3E655765EB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800" y="1954799"/>
            <a:ext cx="7323359" cy="396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BEDD7761-134F-F628-FF91-3702934BE667}"/>
                  </a:ext>
                </a:extLst>
              </p:cNvPr>
              <p:cNvSpPr txBox="1"/>
              <p:nvPr/>
            </p:nvSpPr>
            <p:spPr>
              <a:xfrm>
                <a:off x="8802068" y="5312139"/>
                <a:ext cx="2011132" cy="461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de-DE" sz="240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.31 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de-DE" sz="2400" i="1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BEDD7761-134F-F628-FF91-3702934BE6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2068" y="5312139"/>
                <a:ext cx="2011132" cy="461665"/>
              </a:xfrm>
              <a:prstGeom prst="rect">
                <a:avLst/>
              </a:prstGeom>
              <a:blipFill>
                <a:blip r:embed="rId4"/>
                <a:stretch>
                  <a:fillRect b="-256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Inhaltsplatzhalter 2">
                <a:extLst>
                  <a:ext uri="{FF2B5EF4-FFF2-40B4-BE49-F238E27FC236}">
                    <a16:creationId xmlns:a16="http://schemas.microsoft.com/office/drawing/2014/main" id="{C51F4CF9-EE06-0086-D108-822F02FD000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79524" y="1445220"/>
                <a:ext cx="10094927" cy="4690468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buFont typeface="Wingdings" panose="05000000000000000000" pitchFamily="2" charset="2"/>
                  <a:buChar char="§"/>
                  <a:defRPr sz="2000" b="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0" indent="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0000" indent="-18000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425"/>
                  </a:spcAft>
                  <a:buFont typeface="Work Sans" panose="00000500000000000000" pitchFamily="2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360000" indent="-18000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425"/>
                  </a:spcAft>
                  <a:buFont typeface="Work Sans" panose="00000500000000000000" pitchFamily="2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18000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425"/>
                  </a:spcAft>
                  <a:buFont typeface="Work Sans" panose="00000500000000000000" pitchFamily="2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r>
                  <a:rPr lang="de-DE" b="1" dirty="0"/>
                  <a:t>Zeitlicher Verlauf von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1" i="1" smtClean="0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de-DE" b="1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b="1" dirty="0"/>
                  <a:t> für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de-DE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b="1" i="1">
                                <a:latin typeface="Cambria Math" panose="02040503050406030204" pitchFamily="18" charset="0"/>
                              </a:rPr>
                              <m:t>𝑰</m:t>
                            </m:r>
                          </m:e>
                        </m:acc>
                      </m:e>
                      <m:sub>
                        <m:r>
                          <a:rPr lang="de-DE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de-DE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de-DE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1" i="1" smtClean="0">
                        <a:latin typeface="Cambria Math" panose="02040503050406030204" pitchFamily="18" charset="0"/>
                      </a:rPr>
                      <m:t>𝒎𝑨</m:t>
                    </m:r>
                    <m:r>
                      <a:rPr lang="de-DE" b="1" i="1" smtClean="0">
                        <a:latin typeface="Cambria Math" panose="02040503050406030204" pitchFamily="18" charset="0"/>
                      </a:rPr>
                      <m:t> &lt;</m:t>
                    </m:r>
                    <m:sSub>
                      <m:sSubPr>
                        <m:ctrlPr>
                          <a:rPr lang="de-D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de-DE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b="1" i="1">
                                <a:latin typeface="Cambria Math" panose="02040503050406030204" pitchFamily="18" charset="0"/>
                              </a:rPr>
                              <m:t>𝑰</m:t>
                            </m:r>
                          </m:e>
                        </m:acc>
                      </m:e>
                      <m:sub>
                        <m:r>
                          <a:rPr lang="de-DE" b="1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de-DE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b="1" i="1">
                            <a:latin typeface="Cambria Math" panose="02040503050406030204" pitchFamily="18" charset="0"/>
                          </a:rPr>
                          <m:t>𝒌𝒓𝒊𝒕</m:t>
                        </m:r>
                      </m:sub>
                    </m:sSub>
                  </m:oMath>
                </a14:m>
                <a:endParaRPr lang="de-DE" b="1" i="1" dirty="0"/>
              </a:p>
            </p:txBody>
          </p:sp>
        </mc:Choice>
        <mc:Fallback>
          <p:sp>
            <p:nvSpPr>
              <p:cNvPr id="10" name="Inhaltsplatzhalter 2">
                <a:extLst>
                  <a:ext uri="{FF2B5EF4-FFF2-40B4-BE49-F238E27FC236}">
                    <a16:creationId xmlns:a16="http://schemas.microsoft.com/office/drawing/2014/main" id="{C51F4CF9-EE06-0086-D108-822F02FD00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524" y="1445220"/>
                <a:ext cx="10094927" cy="4690468"/>
              </a:xfrm>
              <a:prstGeom prst="rect">
                <a:avLst/>
              </a:prstGeom>
              <a:blipFill>
                <a:blip r:embed="rId5"/>
                <a:stretch>
                  <a:fillRect l="-1510" t="-129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7238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9B8EE-82D0-3471-9F73-A430DFDA8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DCD44A-5346-C7D2-7EF1-CA3C405AF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Simulink-Modell der Regelstrecke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403D064-97A4-9F05-9BAB-621447C90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Lennart und Richard Mende, 25EIM-AT, E144 Regelungstheorie, Prof. Dr.-Ing. Hendrik Richter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FC490BE-981F-10D9-5A44-61FD9B410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9</a:t>
            </a:fld>
            <a:endParaRPr lang="de-DE"/>
          </a:p>
        </p:txBody>
      </p:sp>
      <p:pic>
        <p:nvPicPr>
          <p:cNvPr id="7" name="Grafik 6" descr="Ein Bild, das Screenshot, Text enthält.&#10;&#10;KI-generierte Inhalte können fehlerhaft sein.">
            <a:extLst>
              <a:ext uri="{FF2B5EF4-FFF2-40B4-BE49-F238E27FC236}">
                <a16:creationId xmlns:a16="http://schemas.microsoft.com/office/drawing/2014/main" id="{C9B50277-CCDC-10C9-6C2C-712E91A36F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799" y="1954800"/>
            <a:ext cx="7143529" cy="396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7887D28C-591A-F09F-A19F-242CDC980E46}"/>
                  </a:ext>
                </a:extLst>
              </p:cNvPr>
              <p:cNvSpPr txBox="1"/>
              <p:nvPr/>
            </p:nvSpPr>
            <p:spPr>
              <a:xfrm>
                <a:off x="8654285" y="4582466"/>
                <a:ext cx="2158916" cy="461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=2 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de-DE" sz="2400" i="1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7887D28C-591A-F09F-A19F-242CDC980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4285" y="4582466"/>
                <a:ext cx="2158916" cy="461665"/>
              </a:xfrm>
              <a:prstGeom prst="rect">
                <a:avLst/>
              </a:prstGeom>
              <a:blipFill>
                <a:blip r:embed="rId4"/>
                <a:stretch>
                  <a:fillRect l="-281" b="-259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Inhaltsplatzhalter 2">
                <a:extLst>
                  <a:ext uri="{FF2B5EF4-FFF2-40B4-BE49-F238E27FC236}">
                    <a16:creationId xmlns:a16="http://schemas.microsoft.com/office/drawing/2014/main" id="{CC8E4A64-E190-54EA-9FE1-384F01AC85F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79524" y="1445220"/>
                <a:ext cx="10094927" cy="4690468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buFont typeface="Wingdings" panose="05000000000000000000" pitchFamily="2" charset="2"/>
                  <a:buChar char="§"/>
                  <a:defRPr sz="2000" b="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0" indent="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0000" indent="-18000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425"/>
                  </a:spcAft>
                  <a:buFont typeface="Work Sans" panose="00000500000000000000" pitchFamily="2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360000" indent="-18000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425"/>
                  </a:spcAft>
                  <a:buFont typeface="Work Sans" panose="00000500000000000000" pitchFamily="2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18000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425"/>
                  </a:spcAft>
                  <a:buFont typeface="Work Sans" panose="00000500000000000000" pitchFamily="2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r>
                  <a:rPr lang="de-DE" b="1" dirty="0"/>
                  <a:t>Zeitlicher Verlauf von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de-DE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de-DE" b="1" i="1" dirty="0"/>
                  <a:t> </a:t>
                </a:r>
                <a:r>
                  <a:rPr lang="de-DE" b="1" dirty="0"/>
                  <a:t>für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de-DE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b="1" i="1">
                                <a:latin typeface="Cambria Math" panose="02040503050406030204" pitchFamily="18" charset="0"/>
                              </a:rPr>
                              <m:t>𝑰</m:t>
                            </m:r>
                          </m:e>
                        </m:acc>
                      </m:e>
                      <m:sub>
                        <m:r>
                          <a:rPr lang="de-DE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de-DE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de-DE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1" i="1" smtClean="0">
                        <a:latin typeface="Cambria Math" panose="02040503050406030204" pitchFamily="18" charset="0"/>
                      </a:rPr>
                      <m:t>𝒎𝑨</m:t>
                    </m:r>
                    <m:r>
                      <a:rPr lang="de-DE" b="1" i="1" smtClean="0">
                        <a:latin typeface="Cambria Math" panose="02040503050406030204" pitchFamily="18" charset="0"/>
                      </a:rPr>
                      <m:t> &lt;</m:t>
                    </m:r>
                    <m:sSub>
                      <m:sSubPr>
                        <m:ctrlPr>
                          <a:rPr lang="de-D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de-DE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b="1" i="1">
                                <a:latin typeface="Cambria Math" panose="02040503050406030204" pitchFamily="18" charset="0"/>
                              </a:rPr>
                              <m:t>𝑰</m:t>
                            </m:r>
                          </m:e>
                        </m:acc>
                      </m:e>
                      <m:sub>
                        <m:r>
                          <a:rPr lang="de-DE" b="1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de-DE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b="1" i="1">
                            <a:latin typeface="Cambria Math" panose="02040503050406030204" pitchFamily="18" charset="0"/>
                          </a:rPr>
                          <m:t>𝒌𝒓𝒊𝒕</m:t>
                        </m:r>
                      </m:sub>
                    </m:sSub>
                  </m:oMath>
                </a14:m>
                <a:endParaRPr lang="de-DE" b="1" i="1" dirty="0"/>
              </a:p>
            </p:txBody>
          </p:sp>
        </mc:Choice>
        <mc:Fallback>
          <p:sp>
            <p:nvSpPr>
              <p:cNvPr id="10" name="Inhaltsplatzhalter 2">
                <a:extLst>
                  <a:ext uri="{FF2B5EF4-FFF2-40B4-BE49-F238E27FC236}">
                    <a16:creationId xmlns:a16="http://schemas.microsoft.com/office/drawing/2014/main" id="{CC8E4A64-E190-54EA-9FE1-384F01AC85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524" y="1445220"/>
                <a:ext cx="10094927" cy="4690468"/>
              </a:xfrm>
              <a:prstGeom prst="rect">
                <a:avLst/>
              </a:prstGeom>
              <a:blipFill>
                <a:blip r:embed="rId5"/>
                <a:stretch>
                  <a:fillRect l="-1510" t="-129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918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D054F-5114-7560-A8EB-31721C460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986A89-3942-E98D-D6A9-AA7443CC7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Simulink-Modell der Regelstrecke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1447967-627B-6054-1655-E599460602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37399" y="1498914"/>
                <a:ext cx="4717200" cy="4555844"/>
              </a:xfrm>
            </p:spPr>
            <p:txBody>
              <a:bodyPr anchor="t"/>
              <a:lstStyle/>
              <a:p>
                <a:pPr>
                  <a:buNone/>
                </a:pPr>
                <a:r>
                  <a:rPr lang="de-DE" b="1" dirty="0"/>
                  <a:t>Zeitlicher Verlauf von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1" i="1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de-DE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de-DE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b="1" dirty="0"/>
                  <a:t>für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de-DE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b="1" i="1">
                                <a:latin typeface="Cambria Math" panose="02040503050406030204" pitchFamily="18" charset="0"/>
                              </a:rPr>
                              <m:t>𝑰</m:t>
                            </m:r>
                          </m:e>
                        </m:acc>
                      </m:e>
                      <m:sub>
                        <m:r>
                          <a:rPr lang="de-DE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de-DE" b="1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de-D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de-DE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b="1" i="1">
                                <a:latin typeface="Cambria Math" panose="02040503050406030204" pitchFamily="18" charset="0"/>
                              </a:rPr>
                              <m:t>𝑰</m:t>
                            </m:r>
                          </m:e>
                        </m:acc>
                      </m:e>
                      <m:sub>
                        <m:r>
                          <a:rPr lang="de-DE" b="1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de-DE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b="1" i="1">
                            <a:latin typeface="Cambria Math" panose="02040503050406030204" pitchFamily="18" charset="0"/>
                          </a:rPr>
                          <m:t>𝒌𝒓𝒊𝒕</m:t>
                        </m:r>
                      </m:sub>
                    </m:sSub>
                  </m:oMath>
                </a14:m>
                <a:endParaRPr lang="de-DE" b="1" i="1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1447967-627B-6054-1655-E599460602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37399" y="1498914"/>
                <a:ext cx="4717200" cy="4555844"/>
              </a:xfrm>
              <a:blipFill>
                <a:blip r:embed="rId2"/>
                <a:stretch>
                  <a:fillRect l="-3230" t="-133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ACA0057-9436-9A4E-F45B-59116793B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Lennart und Richard Mende, 25EIM-AT, E144 Regelungstheorie, Prof. Dr.-Ing. Hendrik Richter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C45B8F3-E7F9-3614-78D9-94308EEFC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10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21CA743-C2D4-9A17-8F09-B209992896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573" y="2479086"/>
            <a:ext cx="5316480" cy="2880000"/>
          </a:xfrm>
          <a:prstGeom prst="rect">
            <a:avLst/>
          </a:prstGeom>
        </p:spPr>
      </p:pic>
      <p:pic>
        <p:nvPicPr>
          <p:cNvPr id="10" name="Grafik 9" descr="Ein Bild, das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D284A13B-5C35-C2F2-78DE-E13AFE79E9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6948" y="2479086"/>
            <a:ext cx="5219054" cy="288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4555EA9C-8907-D6E1-2F88-C25E93018865}"/>
                  </a:ext>
                </a:extLst>
              </p:cNvPr>
              <p:cNvSpPr txBox="1"/>
              <p:nvPr/>
            </p:nvSpPr>
            <p:spPr>
              <a:xfrm>
                <a:off x="2439344" y="1928630"/>
                <a:ext cx="133493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000" b="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de-DE" sz="2000" b="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=3 </m:t>
                      </m:r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de-DE" sz="2000" i="1" dirty="0"/>
              </a:p>
            </p:txBody>
          </p:sp>
        </mc:Choice>
        <mc:Fallback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4555EA9C-8907-D6E1-2F88-C25E93018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9344" y="1928630"/>
                <a:ext cx="1334937" cy="400110"/>
              </a:xfrm>
              <a:prstGeom prst="rect">
                <a:avLst/>
              </a:prstGeom>
              <a:blipFill>
                <a:blip r:embed="rId5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1396771C-0DC3-4A92-F856-286088827086}"/>
                  </a:ext>
                </a:extLst>
              </p:cNvPr>
              <p:cNvSpPr txBox="1"/>
              <p:nvPr/>
            </p:nvSpPr>
            <p:spPr>
              <a:xfrm>
                <a:off x="8369006" y="1928630"/>
                <a:ext cx="133493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000" b="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de-DE" sz="2000" b="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=6 </m:t>
                      </m:r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de-DE" sz="2000" i="1" dirty="0"/>
              </a:p>
            </p:txBody>
          </p:sp>
        </mc:Choice>
        <mc:Fallback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1396771C-0DC3-4A92-F856-2860888270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9006" y="1928630"/>
                <a:ext cx="1334937" cy="400110"/>
              </a:xfrm>
              <a:prstGeom prst="rect">
                <a:avLst/>
              </a:prstGeom>
              <a:blipFill>
                <a:blip r:embed="rId6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1834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A46B5-F07E-65F2-E0AE-9EED57989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5181F3-EAFA-F2C6-5DBD-382CFBB4D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Simulink-Modell der Regelstrecke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C19A79F-7140-EB78-A46B-4518BA8E9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Lennart und Richard Mende, 25EIM-AT, E144 Regelungstheorie, Prof. Dr.-Ing. Hendrik Richter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A4B6A7C-B8E3-9CDF-8A01-95B003385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11</a:t>
            </a:fld>
            <a:endParaRPr lang="de-D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Inhaltsplatzhalter 2">
                <a:extLst>
                  <a:ext uri="{FF2B5EF4-FFF2-40B4-BE49-F238E27FC236}">
                    <a16:creationId xmlns:a16="http://schemas.microsoft.com/office/drawing/2014/main" id="{EEBF649D-A9C8-3731-CCFF-A47C586DCB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37399" y="1498914"/>
                <a:ext cx="4717200" cy="4555844"/>
              </a:xfrm>
            </p:spPr>
            <p:txBody>
              <a:bodyPr anchor="t"/>
              <a:lstStyle/>
              <a:p>
                <a:pPr>
                  <a:buNone/>
                </a:pPr>
                <a:r>
                  <a:rPr lang="de-DE" b="1" dirty="0"/>
                  <a:t>Zeitlicher Verlauf von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1" i="1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de-DE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de-DE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b="1" dirty="0"/>
                  <a:t>für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de-DE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b="1" i="1">
                                <a:latin typeface="Cambria Math" panose="02040503050406030204" pitchFamily="18" charset="0"/>
                              </a:rPr>
                              <m:t>𝑰</m:t>
                            </m:r>
                          </m:e>
                        </m:acc>
                      </m:e>
                      <m:sub>
                        <m:r>
                          <a:rPr lang="de-DE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de-DE" b="1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de-D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de-DE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b="1" i="1">
                                <a:latin typeface="Cambria Math" panose="02040503050406030204" pitchFamily="18" charset="0"/>
                              </a:rPr>
                              <m:t>𝑰</m:t>
                            </m:r>
                          </m:e>
                        </m:acc>
                      </m:e>
                      <m:sub>
                        <m:r>
                          <a:rPr lang="de-DE" b="1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de-DE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b="1" i="1">
                            <a:latin typeface="Cambria Math" panose="02040503050406030204" pitchFamily="18" charset="0"/>
                          </a:rPr>
                          <m:t>𝒌𝒓𝒊𝒕</m:t>
                        </m:r>
                      </m:sub>
                    </m:sSub>
                  </m:oMath>
                </a14:m>
                <a:endParaRPr lang="de-DE" b="1" i="1" dirty="0"/>
              </a:p>
            </p:txBody>
          </p:sp>
        </mc:Choice>
        <mc:Fallback>
          <p:sp>
            <p:nvSpPr>
              <p:cNvPr id="9" name="Inhaltsplatzhalter 2">
                <a:extLst>
                  <a:ext uri="{FF2B5EF4-FFF2-40B4-BE49-F238E27FC236}">
                    <a16:creationId xmlns:a16="http://schemas.microsoft.com/office/drawing/2014/main" id="{EEBF649D-A9C8-3731-CCFF-A47C586DCB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37399" y="1498914"/>
                <a:ext cx="4717200" cy="4555844"/>
              </a:xfrm>
              <a:blipFill>
                <a:blip r:embed="rId2"/>
                <a:stretch>
                  <a:fillRect l="-3230" t="-133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57764635-1F28-521A-72A1-66B3EA342017}"/>
                  </a:ext>
                </a:extLst>
              </p:cNvPr>
              <p:cNvSpPr txBox="1"/>
              <p:nvPr/>
            </p:nvSpPr>
            <p:spPr>
              <a:xfrm>
                <a:off x="2439344" y="1928630"/>
                <a:ext cx="133493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000" b="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de-DE" sz="2000" b="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=3 </m:t>
                      </m:r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de-DE" sz="2000" i="1" dirty="0"/>
              </a:p>
            </p:txBody>
          </p:sp>
        </mc:Choice>
        <mc:Fallback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57764635-1F28-521A-72A1-66B3EA342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9344" y="1928630"/>
                <a:ext cx="1334937" cy="400110"/>
              </a:xfrm>
              <a:prstGeom prst="rect">
                <a:avLst/>
              </a:prstGeom>
              <a:blipFill>
                <a:blip r:embed="rId3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313446BE-D007-105E-2EB4-5997ED57AAD5}"/>
                  </a:ext>
                </a:extLst>
              </p:cNvPr>
              <p:cNvSpPr txBox="1"/>
              <p:nvPr/>
            </p:nvSpPr>
            <p:spPr>
              <a:xfrm>
                <a:off x="8369006" y="1928630"/>
                <a:ext cx="133493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000" b="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de-DE" sz="2000" b="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=6 </m:t>
                      </m:r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de-DE" sz="2000" i="1" dirty="0"/>
              </a:p>
            </p:txBody>
          </p:sp>
        </mc:Choice>
        <mc:Fallback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313446BE-D007-105E-2EB4-5997ED57A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9006" y="1928630"/>
                <a:ext cx="1334937" cy="400110"/>
              </a:xfrm>
              <a:prstGeom prst="rect">
                <a:avLst/>
              </a:prstGeom>
              <a:blipFill>
                <a:blip r:embed="rId4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Grafik 12" descr="Ein Bild, das Screenshot enthält.&#10;&#10;KI-generierte Inhalte können fehlerhaft sein.">
            <a:extLst>
              <a:ext uri="{FF2B5EF4-FFF2-40B4-BE49-F238E27FC236}">
                <a16:creationId xmlns:a16="http://schemas.microsoft.com/office/drawing/2014/main" id="{F1017958-10DF-FE86-91E8-037F1A8BAD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524" y="2479086"/>
            <a:ext cx="5352960" cy="2880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90FF31C4-D17F-B22C-9719-702934905C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474" y="2479086"/>
            <a:ext cx="53280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389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1FB45-0E5F-87B4-2AAB-576D905BD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12C620-46C5-8F4C-7F69-C01C82351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Simulink-Modell der Regelstrecke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666528D-5C03-69A1-9222-E1047CA95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Lennart und Richard Mende, 25EIM-AT, E144 Regelungstheorie, Prof. Dr.-Ing. Hendrik Richter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5F2D558-AC1A-1782-84E5-95ED661DD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12</a:t>
            </a:fld>
            <a:endParaRPr lang="de-D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Inhaltsplatzhalter 2">
                <a:extLst>
                  <a:ext uri="{FF2B5EF4-FFF2-40B4-BE49-F238E27FC236}">
                    <a16:creationId xmlns:a16="http://schemas.microsoft.com/office/drawing/2014/main" id="{710FF189-5427-F393-C26C-7EFF3426B86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37399" y="1498914"/>
                <a:ext cx="4717200" cy="4555844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buFont typeface="Wingdings" panose="05000000000000000000" pitchFamily="2" charset="2"/>
                  <a:buChar char="§"/>
                  <a:defRPr sz="2000" b="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0" indent="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0000" indent="-18000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425"/>
                  </a:spcAft>
                  <a:buFont typeface="Work Sans" panose="00000500000000000000" pitchFamily="2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360000" indent="-18000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425"/>
                  </a:spcAft>
                  <a:buFont typeface="Work Sans" panose="00000500000000000000" pitchFamily="2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18000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425"/>
                  </a:spcAft>
                  <a:buFont typeface="Work Sans" panose="00000500000000000000" pitchFamily="2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r>
                  <a:rPr lang="de-DE" b="1" dirty="0"/>
                  <a:t>Zeitlicher Verlauf von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de-DE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  <m:r>
                      <a:rPr lang="de-DE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b="1" dirty="0"/>
                  <a:t>für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de-DE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b="1" i="1">
                                <a:latin typeface="Cambria Math" panose="02040503050406030204" pitchFamily="18" charset="0"/>
                              </a:rPr>
                              <m:t>𝑰</m:t>
                            </m:r>
                          </m:e>
                        </m:acc>
                      </m:e>
                      <m:sub>
                        <m:r>
                          <a:rPr lang="de-DE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de-DE" b="1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de-D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de-DE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b="1" i="1">
                                <a:latin typeface="Cambria Math" panose="02040503050406030204" pitchFamily="18" charset="0"/>
                              </a:rPr>
                              <m:t>𝑰</m:t>
                            </m:r>
                          </m:e>
                        </m:acc>
                      </m:e>
                      <m:sub>
                        <m:r>
                          <a:rPr lang="de-DE" b="1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de-DE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b="1" i="1">
                            <a:latin typeface="Cambria Math" panose="02040503050406030204" pitchFamily="18" charset="0"/>
                          </a:rPr>
                          <m:t>𝒌𝒓𝒊𝒕</m:t>
                        </m:r>
                      </m:sub>
                    </m:sSub>
                  </m:oMath>
                </a14:m>
                <a:endParaRPr lang="de-DE" b="1" i="1" dirty="0"/>
              </a:p>
            </p:txBody>
          </p:sp>
        </mc:Choice>
        <mc:Fallback>
          <p:sp>
            <p:nvSpPr>
              <p:cNvPr id="6" name="Inhaltsplatzhalter 2">
                <a:extLst>
                  <a:ext uri="{FF2B5EF4-FFF2-40B4-BE49-F238E27FC236}">
                    <a16:creationId xmlns:a16="http://schemas.microsoft.com/office/drawing/2014/main" id="{710FF189-5427-F393-C26C-7EFF3426B8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7399" y="1498914"/>
                <a:ext cx="4717200" cy="4555844"/>
              </a:xfrm>
              <a:prstGeom prst="rect">
                <a:avLst/>
              </a:prstGeom>
              <a:blipFill>
                <a:blip r:embed="rId2"/>
                <a:stretch>
                  <a:fillRect l="-3230" t="-133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9894D6C6-CB81-47A6-568D-2393E52A47A4}"/>
                  </a:ext>
                </a:extLst>
              </p:cNvPr>
              <p:cNvSpPr txBox="1"/>
              <p:nvPr/>
            </p:nvSpPr>
            <p:spPr>
              <a:xfrm>
                <a:off x="2439344" y="1928630"/>
                <a:ext cx="133493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000" b="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de-DE" sz="2000" b="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=3 </m:t>
                      </m:r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de-DE" sz="2000" i="1" dirty="0"/>
              </a:p>
            </p:txBody>
          </p:sp>
        </mc:Choice>
        <mc:Fallback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9894D6C6-CB81-47A6-568D-2393E52A47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9344" y="1928630"/>
                <a:ext cx="1334937" cy="400110"/>
              </a:xfrm>
              <a:prstGeom prst="rect">
                <a:avLst/>
              </a:prstGeom>
              <a:blipFill>
                <a:blip r:embed="rId3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23A3C464-99C5-4723-ACB6-76A7F12AAF5C}"/>
                  </a:ext>
                </a:extLst>
              </p:cNvPr>
              <p:cNvSpPr txBox="1"/>
              <p:nvPr/>
            </p:nvSpPr>
            <p:spPr>
              <a:xfrm>
                <a:off x="8369006" y="1928630"/>
                <a:ext cx="133493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000" b="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de-DE" sz="2000" b="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=6 </m:t>
                      </m:r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de-DE" sz="2000" i="1" dirty="0"/>
              </a:p>
            </p:txBody>
          </p:sp>
        </mc:Choice>
        <mc:Fallback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23A3C464-99C5-4723-ACB6-76A7F12AAF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9006" y="1928630"/>
                <a:ext cx="1334937" cy="400110"/>
              </a:xfrm>
              <a:prstGeom prst="rect">
                <a:avLst/>
              </a:prstGeom>
              <a:blipFill>
                <a:blip r:embed="rId4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Grafik 12">
            <a:extLst>
              <a:ext uri="{FF2B5EF4-FFF2-40B4-BE49-F238E27FC236}">
                <a16:creationId xmlns:a16="http://schemas.microsoft.com/office/drawing/2014/main" id="{CAC0960D-A8B8-EC34-168A-4F18912909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153" y="2479086"/>
            <a:ext cx="5311318" cy="2880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8500E29A-17C2-CA5E-5264-F867DA4224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531" y="2479086"/>
            <a:ext cx="5295979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468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1EB03-263E-7C33-3417-B8D82B3CC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46EA00-9B2D-9112-7A63-3E46732BF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de-DE" dirty="0"/>
              <a:t>Ausblick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3026CC1-EDA2-FD67-2D19-03256610B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Aft>
                <a:spcPts val="1800"/>
              </a:spcAft>
            </a:pPr>
            <a:r>
              <a:rPr lang="de-DE" sz="2400" dirty="0"/>
              <a:t>Reglerentwurf anhand zwei verschiedener nichtlinearer Regelungskonzepte</a:t>
            </a:r>
          </a:p>
          <a:p>
            <a:pPr marL="342900" indent="-342900">
              <a:spcAft>
                <a:spcPts val="1800"/>
              </a:spcAft>
            </a:pPr>
            <a:r>
              <a:rPr lang="de-DE" sz="2400" dirty="0"/>
              <a:t>Beurteilung des entstehenden dynamischen Verhaltens</a:t>
            </a:r>
          </a:p>
          <a:p>
            <a:pPr marL="342900" indent="-342900">
              <a:spcAft>
                <a:spcPts val="1800"/>
              </a:spcAft>
            </a:pPr>
            <a:endParaRPr lang="de-DE" sz="2400" dirty="0"/>
          </a:p>
          <a:p>
            <a:pPr>
              <a:spcAft>
                <a:spcPts val="1800"/>
              </a:spcAft>
              <a:buNone/>
            </a:pPr>
            <a:endParaRPr lang="de-DE" sz="24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19583D8-4C4E-EAA9-8303-5013908D5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Lennart und Richard Mende, 25EIM-AT, E144 Regelungstheorie, Prof. Dr.-Ing. Hendrik Richter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BCD4AC4-4BB1-2D50-4A36-18E2B5BDD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8484416"/>
      </p:ext>
    </p:extLst>
  </p:cSld>
  <p:clrMapOvr>
    <a:masterClrMapping/>
  </p:clrMapOvr>
</p:sld>
</file>

<file path=ppt/theme/theme1.xml><?xml version="1.0" encoding="utf-8"?>
<a:theme xmlns:a="http://schemas.openxmlformats.org/drawingml/2006/main" name="HTWK Magenta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EFED7CB0-8CF4-D44F-9260-9E79D17BFAAA}"/>
    </a:ext>
  </a:extLst>
</a:theme>
</file>

<file path=ppt/theme/theme2.xml><?xml version="1.0" encoding="utf-8"?>
<a:theme xmlns:a="http://schemas.openxmlformats.org/drawingml/2006/main" name="HTWK Grün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E391D94D-EE63-D349-B7DE-98ADF560723F}"/>
    </a:ext>
  </a:extLst>
</a:theme>
</file>

<file path=ppt/theme/theme3.xml><?xml version="1.0" encoding="utf-8"?>
<a:theme xmlns:a="http://schemas.openxmlformats.org/drawingml/2006/main" name="HTWK Cyan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A51D0A69-4D8E-524F-9B0E-CEBB36F378F6}"/>
    </a:ext>
  </a:extLst>
</a:theme>
</file>

<file path=ppt/theme/theme4.xml><?xml version="1.0" encoding="utf-8"?>
<a:theme xmlns:a="http://schemas.openxmlformats.org/drawingml/2006/main" name="HTWK Blau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9DD5615B-4FDE-C14E-84FA-48ACAD4DD175}"/>
    </a:ext>
  </a:ext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HTWK_Praesentation_16-9.potx</Template>
  <TotalTime>0</TotalTime>
  <Words>571</Words>
  <Application>Microsoft Office PowerPoint</Application>
  <PresentationFormat>Breitbild</PresentationFormat>
  <Paragraphs>91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4</vt:i4>
      </vt:variant>
      <vt:variant>
        <vt:lpstr>Folientitel</vt:lpstr>
      </vt:variant>
      <vt:variant>
        <vt:i4>13</vt:i4>
      </vt:variant>
    </vt:vector>
  </HeadingPairs>
  <TitlesOfParts>
    <vt:vector size="22" baseType="lpstr">
      <vt:lpstr>Arial</vt:lpstr>
      <vt:lpstr>Calibri</vt:lpstr>
      <vt:lpstr>Cambria Math</vt:lpstr>
      <vt:lpstr>Wingdings</vt:lpstr>
      <vt:lpstr>Work Sans</vt:lpstr>
      <vt:lpstr>HTWK Magenta</vt:lpstr>
      <vt:lpstr>HTWK Grün</vt:lpstr>
      <vt:lpstr>HTWK Cyan</vt:lpstr>
      <vt:lpstr>HTWK Blau</vt:lpstr>
      <vt:lpstr>PowerPoint-Präsentation</vt:lpstr>
      <vt:lpstr>GLIEDERUNG</vt:lpstr>
      <vt:lpstr>Modellbildung</vt:lpstr>
      <vt:lpstr>Gleichgewichtslage und Stabilität</vt:lpstr>
      <vt:lpstr>Gleichgewichtslage und Stabilität</vt:lpstr>
      <vt:lpstr>Simulink-Modell der Regelstrecke</vt:lpstr>
      <vt:lpstr>Simulink-Modell der Regelstrecke</vt:lpstr>
      <vt:lpstr>Simulink-Modell der Regelstrecke</vt:lpstr>
      <vt:lpstr>Simulink-Modell der Regelstrecke</vt:lpstr>
      <vt:lpstr>Simulink-Modell der Regelstrecke</vt:lpstr>
      <vt:lpstr>Simulink-Modell der Regelstrecke</vt:lpstr>
      <vt:lpstr>Simulink-Modell der Regelstrecke</vt:lpstr>
      <vt:lpstr>Ausblick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der Präsentation</dc:title>
  <dc:creator>Paulin Alter</dc:creator>
  <cp:lastModifiedBy>Richard Mende</cp:lastModifiedBy>
  <cp:revision>22</cp:revision>
  <dcterms:created xsi:type="dcterms:W3CDTF">2019-01-10T16:04:56Z</dcterms:created>
  <dcterms:modified xsi:type="dcterms:W3CDTF">2025-12-09T13:55:52Z</dcterms:modified>
</cp:coreProperties>
</file>