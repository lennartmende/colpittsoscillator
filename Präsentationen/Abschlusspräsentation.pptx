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8" r:id="rId2"/>
    <p:sldMasterId id="2147483688" r:id="rId3"/>
    <p:sldMasterId id="2147483693" r:id="rId4"/>
  </p:sldMasterIdLst>
  <p:notesMasterIdLst>
    <p:notesMasterId r:id="rId22"/>
  </p:notesMasterIdLst>
  <p:sldIdLst>
    <p:sldId id="277" r:id="rId5"/>
    <p:sldId id="278" r:id="rId6"/>
    <p:sldId id="279" r:id="rId7"/>
    <p:sldId id="280" r:id="rId8"/>
    <p:sldId id="260" r:id="rId9"/>
    <p:sldId id="283" r:id="rId10"/>
    <p:sldId id="284" r:id="rId11"/>
    <p:sldId id="285" r:id="rId12"/>
    <p:sldId id="286" r:id="rId13"/>
    <p:sldId id="281" r:id="rId14"/>
    <p:sldId id="282" r:id="rId15"/>
    <p:sldId id="276" r:id="rId16"/>
    <p:sldId id="263" r:id="rId17"/>
    <p:sldId id="270" r:id="rId18"/>
    <p:sldId id="26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0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66" y="102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9419C16-12A8-1707-A702-12225E4BF9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buFont typeface="+mj-lt"/>
              <a:buNone/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 anchor="ctr"/>
          <a:lstStyle>
            <a:lvl1pPr>
              <a:buFont typeface="Wingdings" panose="05000000000000000000" pitchFamily="2" charset="2"/>
              <a:buChar char="§"/>
              <a:defRPr sz="2000" b="0"/>
            </a:lvl1pPr>
            <a:lvl2pPr algn="l">
              <a:buFont typeface="Arial" panose="020B0604020202020204" pitchFamily="34" charset="0"/>
              <a:buNone/>
              <a:defRPr sz="2000"/>
            </a:lvl2pPr>
          </a:lstStyle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932801" cy="22416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31.png"/><Relationship Id="rId7" Type="http://schemas.openxmlformats.org/officeDocument/2006/relationships/image" Target="../media/image17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1.png"/><Relationship Id="rId11" Type="http://schemas.openxmlformats.org/officeDocument/2006/relationships/image" Target="../media/image21.png"/><Relationship Id="rId5" Type="http://schemas.openxmlformats.org/officeDocument/2006/relationships/image" Target="../media/image151.png"/><Relationship Id="rId10" Type="http://schemas.openxmlformats.org/officeDocument/2006/relationships/image" Target="../media/image20.png"/><Relationship Id="rId4" Type="http://schemas.openxmlformats.org/officeDocument/2006/relationships/image" Target="../media/image141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21478FF-CE89-383D-C91B-375336D3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5AA00D-AAD4-6FEC-B156-6A35199C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Richter, Prof. Dr.-Ing. Jens Jäkel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9E19F86-820B-F527-CA5E-262F8BBEA7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 sz="3200" b="1" dirty="0"/>
              <a:t>Abschlusspräsentation zum </a:t>
            </a:r>
            <a:r>
              <a:rPr lang="de-DE" sz="3200" b="1" dirty="0" err="1"/>
              <a:t>Colpitts</a:t>
            </a:r>
            <a:r>
              <a:rPr lang="de-DE" sz="3200" b="1" dirty="0"/>
              <a:t> Oszillator</a:t>
            </a:r>
          </a:p>
          <a:p>
            <a:endParaRPr lang="de-DE" sz="3200" b="1" dirty="0"/>
          </a:p>
          <a:p>
            <a:r>
              <a:rPr lang="de-DE" sz="3200" b="1" dirty="0"/>
              <a:t>Lennart und Richard Mende (25EIM-AT)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7E0F7CA-FF7C-FBCE-90DB-8B46C42105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445EACF-33E5-7D21-A4AF-702A30E26F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19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52BE5-0A09-8E3D-57E9-91E35E8A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9BBFAF-70C4-DB9A-55DC-02238CFA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0982870-C57C-3FD8-6ACE-EB6573A1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C18C281-4F1C-FCAB-6E8A-98403B17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0" y="1293485"/>
            <a:ext cx="10756899" cy="4271029"/>
          </a:xfrm>
        </p:spPr>
        <p:txBody>
          <a:bodyPr/>
          <a:lstStyle/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de-DE" sz="2800" dirty="0"/>
              <a:t>Modellbildung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de-DE" sz="2800" dirty="0"/>
              <a:t>Gleichgewichtslage und Stabilität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de-DE" sz="2800" dirty="0"/>
              <a:t>Lineare Zustandsrückführung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de-DE" sz="2800" dirty="0"/>
              <a:t>Eingangs-Ausgangs-Linearisierung</a:t>
            </a:r>
          </a:p>
        </p:txBody>
      </p:sp>
    </p:spTree>
    <p:extLst>
      <p:ext uri="{BB962C8B-B14F-4D97-AF65-F5344CB8AC3E}">
        <p14:creationId xmlns:p14="http://schemas.microsoft.com/office/powerpoint/2010/main" val="69259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B5E95F-4E9A-C7BA-72DD-A243282F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E82120-3036-BA3B-38B9-C519F776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3AE6C7C-10C5-D109-F613-8932AEEA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Modellbildung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3C44915-1C1A-30BB-4909-A8159D1FA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3" y="1614144"/>
            <a:ext cx="2940048" cy="4521544"/>
          </a:xfrm>
        </p:spPr>
        <p:txBody>
          <a:bodyPr anchor="t"/>
          <a:lstStyle/>
          <a:p>
            <a:pPr>
              <a:buNone/>
            </a:pPr>
            <a:r>
              <a:rPr lang="de-DE" dirty="0"/>
              <a:t>       Schaltkreis</a:t>
            </a:r>
          </a:p>
          <a:p>
            <a:pPr>
              <a:buNone/>
            </a:pPr>
            <a:endParaRPr lang="de-DE" dirty="0"/>
          </a:p>
          <a:p>
            <a:pPr>
              <a:buNone/>
            </a:pPr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3709924-5096-B78C-C369-07A3B672441E}"/>
              </a:ext>
            </a:extLst>
          </p:cNvPr>
          <p:cNvGrpSpPr/>
          <p:nvPr/>
        </p:nvGrpSpPr>
        <p:grpSpPr>
          <a:xfrm>
            <a:off x="717549" y="2045720"/>
            <a:ext cx="3127106" cy="3658391"/>
            <a:chOff x="850534" y="1735299"/>
            <a:chExt cx="2535978" cy="298910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8F23D962-9D96-3DA8-1CAB-D680F7C19F91}"/>
                </a:ext>
              </a:extLst>
            </p:cNvPr>
            <p:cNvGrpSpPr/>
            <p:nvPr/>
          </p:nvGrpSpPr>
          <p:grpSpPr>
            <a:xfrm>
              <a:off x="850534" y="1735299"/>
              <a:ext cx="2535978" cy="2989101"/>
              <a:chOff x="850534" y="1735299"/>
              <a:chExt cx="2535978" cy="2989101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67D58556-3C67-BE99-D5E4-068EC941EA53}"/>
                  </a:ext>
                </a:extLst>
              </p:cNvPr>
              <p:cNvGrpSpPr/>
              <p:nvPr/>
            </p:nvGrpSpPr>
            <p:grpSpPr>
              <a:xfrm>
                <a:off x="850534" y="1735299"/>
                <a:ext cx="2535978" cy="2989101"/>
                <a:chOff x="850534" y="1735299"/>
                <a:chExt cx="2535978" cy="2989101"/>
              </a:xfrm>
            </p:grpSpPr>
            <p:grpSp>
              <p:nvGrpSpPr>
                <p:cNvPr id="14" name="Gruppieren 13">
                  <a:extLst>
                    <a:ext uri="{FF2B5EF4-FFF2-40B4-BE49-F238E27FC236}">
                      <a16:creationId xmlns:a16="http://schemas.microsoft.com/office/drawing/2014/main" id="{70EB1ACC-4876-22BB-947A-11BCB6207789}"/>
                    </a:ext>
                  </a:extLst>
                </p:cNvPr>
                <p:cNvGrpSpPr/>
                <p:nvPr/>
              </p:nvGrpSpPr>
              <p:grpSpPr>
                <a:xfrm>
                  <a:off x="850534" y="1735299"/>
                  <a:ext cx="2535978" cy="2989101"/>
                  <a:chOff x="850534" y="1735299"/>
                  <a:chExt cx="2535978" cy="2989101"/>
                </a:xfrm>
              </p:grpSpPr>
              <p:pic>
                <p:nvPicPr>
                  <p:cNvPr id="17" name="Grafik 16">
                    <a:extLst>
                      <a:ext uri="{FF2B5EF4-FFF2-40B4-BE49-F238E27FC236}">
                        <a16:creationId xmlns:a16="http://schemas.microsoft.com/office/drawing/2014/main" id="{790C7D59-C3CB-7FBC-2BF7-83DBA3BC22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b="33127"/>
                  <a:stretch>
                    <a:fillRect/>
                  </a:stretch>
                </p:blipFill>
                <p:spPr>
                  <a:xfrm>
                    <a:off x="850534" y="1735299"/>
                    <a:ext cx="2535978" cy="2989101"/>
                  </a:xfrm>
                  <a:prstGeom prst="rect">
                    <a:avLst/>
                  </a:prstGeom>
                </p:spPr>
              </p:pic>
              <p:sp>
                <p:nvSpPr>
                  <p:cNvPr id="18" name="Rechteck 17">
                    <a:extLst>
                      <a:ext uri="{FF2B5EF4-FFF2-40B4-BE49-F238E27FC236}">
                        <a16:creationId xmlns:a16="http://schemas.microsoft.com/office/drawing/2014/main" id="{544D2374-5831-5A1D-97F2-C5A877F459DB}"/>
                      </a:ext>
                    </a:extLst>
                  </p:cNvPr>
                  <p:cNvSpPr/>
                  <p:nvPr/>
                </p:nvSpPr>
                <p:spPr>
                  <a:xfrm>
                    <a:off x="1724025" y="1831181"/>
                    <a:ext cx="183356" cy="15478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" name="Rechteck 18">
                    <a:extLst>
                      <a:ext uri="{FF2B5EF4-FFF2-40B4-BE49-F238E27FC236}">
                        <a16:creationId xmlns:a16="http://schemas.microsoft.com/office/drawing/2014/main" id="{5FCF2A93-7A6E-C740-4FAC-EAD04509CE32}"/>
                      </a:ext>
                    </a:extLst>
                  </p:cNvPr>
                  <p:cNvSpPr/>
                  <p:nvPr/>
                </p:nvSpPr>
                <p:spPr>
                  <a:xfrm>
                    <a:off x="1644253" y="1831181"/>
                    <a:ext cx="342900" cy="1928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300" b="1" dirty="0">
                        <a:solidFill>
                          <a:schemeClr val="tx1"/>
                        </a:solidFill>
                      </a:rPr>
                      <a:t>U</a:t>
                    </a:r>
                    <a:r>
                      <a:rPr lang="de-DE" sz="1300" b="1" baseline="-25000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</p:grpSp>
            <p:sp>
              <p:nvSpPr>
                <p:cNvPr id="15" name="Rechteck 14">
                  <a:extLst>
                    <a:ext uri="{FF2B5EF4-FFF2-40B4-BE49-F238E27FC236}">
                      <a16:creationId xmlns:a16="http://schemas.microsoft.com/office/drawing/2014/main" id="{0FBDE510-12F6-457D-DE80-F595D9676F3F}"/>
                    </a:ext>
                  </a:extLst>
                </p:cNvPr>
                <p:cNvSpPr/>
                <p:nvPr/>
              </p:nvSpPr>
              <p:spPr>
                <a:xfrm>
                  <a:off x="2730499" y="3274217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DFA9EA5C-E27D-A95E-9BE7-2D79B1AB3A8C}"/>
                    </a:ext>
                  </a:extLst>
                </p:cNvPr>
                <p:cNvSpPr/>
                <p:nvPr/>
              </p:nvSpPr>
              <p:spPr>
                <a:xfrm>
                  <a:off x="2730499" y="4001292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1C5CE1F7-20E0-69E2-5A11-9955DC46B5D3}"/>
                  </a:ext>
                </a:extLst>
              </p:cNvPr>
              <p:cNvSpPr/>
              <p:nvPr/>
            </p:nvSpPr>
            <p:spPr>
              <a:xfrm>
                <a:off x="2565401" y="3642517"/>
                <a:ext cx="768350" cy="189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BE221B4-E62B-0822-D4D8-C50BFD57F75B}"/>
                </a:ext>
              </a:extLst>
            </p:cNvPr>
            <p:cNvSpPr/>
            <p:nvPr/>
          </p:nvSpPr>
          <p:spPr>
            <a:xfrm>
              <a:off x="2634852" y="3259956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897F894-F211-4F6E-E79D-0A58813AE81D}"/>
                </a:ext>
              </a:extLst>
            </p:cNvPr>
            <p:cNvSpPr/>
            <p:nvPr/>
          </p:nvSpPr>
          <p:spPr>
            <a:xfrm>
              <a:off x="2634852" y="3988989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8782FD3-9DE8-E1A1-0A91-DC19C0F94F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dirty="0"/>
                  <a:t>     Zustandsraummodell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1800"/>
                  </a:spcAft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8782FD3-9DE8-E1A1-0A91-DC19C0F94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  <a:blipFill>
                <a:blip r:embed="rId3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feld 20">
            <a:extLst>
              <a:ext uri="{FF2B5EF4-FFF2-40B4-BE49-F238E27FC236}">
                <a16:creationId xmlns:a16="http://schemas.microsoft.com/office/drawing/2014/main" id="{8247F14C-7B7D-3D3B-65CB-D3E3A99DF8DA}"/>
              </a:ext>
            </a:extLst>
          </p:cNvPr>
          <p:cNvSpPr txBox="1"/>
          <p:nvPr/>
        </p:nvSpPr>
        <p:spPr>
          <a:xfrm>
            <a:off x="3844655" y="545823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Quelle: G.M. Maggio et al., Nonlinear Analysis of the Colpitts Oscillator and Applications to Design, IEEE Trans. Circuits and Systems 46, 1118-1130, 1999</a:t>
            </a:r>
            <a:endParaRPr lang="de-DE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Inhaltsplatzhalter 2">
                <a:extLst>
                  <a:ext uri="{FF2B5EF4-FFF2-40B4-BE49-F238E27FC236}">
                    <a16:creationId xmlns:a16="http://schemas.microsoft.com/office/drawing/2014/main" id="{CD6CAA7F-C75C-8CE0-3CED-ACBAE02E6E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34401" y="1614143"/>
                <a:ext cx="1862951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lang="de-DE" dirty="0"/>
                  <a:t>Parameterwerte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𝑛𝐴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26 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𝑚𝑉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b="0" i="1" smtClean="0">
                          <a:effectLst/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de-DE" i="1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𝑚𝐻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Inhaltsplatzhalter 2">
                <a:extLst>
                  <a:ext uri="{FF2B5EF4-FFF2-40B4-BE49-F238E27FC236}">
                    <a16:creationId xmlns:a16="http://schemas.microsoft.com/office/drawing/2014/main" id="{CD6CAA7F-C75C-8CE0-3CED-ACBAE02E6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1" y="1614143"/>
                <a:ext cx="1862951" cy="4521544"/>
              </a:xfrm>
              <a:prstGeom prst="rect">
                <a:avLst/>
              </a:prstGeom>
              <a:blipFill>
                <a:blip r:embed="rId4"/>
                <a:stretch>
                  <a:fillRect l="-8170" t="-1752" r="-52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43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4C35DF-8DE0-B3F6-B026-F8528ED2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701B96-F8F5-B4ED-7C3E-79F60050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39DFE47-C9A6-4D2F-4752-3C0BB1D1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D554CB8-DE1E-F1B1-47D6-20169BD1669C}"/>
                  </a:ext>
                </a:extLst>
              </p:cNvPr>
              <p:cNvSpPr txBox="1"/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de-DE" sz="2400" b="1" dirty="0"/>
                  <a:t>Gleichgewichtslage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  →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+0.0257</m:t>
                              </m:r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𝑙𝑛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−0.0257</m:t>
                                    </m:r>
                                    <m:func>
                                      <m:func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𝑙𝑛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8</m:t>
                                                </m:r>
                                              </m:sup>
                                            </m:sSup>
                                            <m:sSub>
                                              <m:sSub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D554CB8-DE1E-F1B1-47D6-20169BD1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blipFill>
                <a:blip r:embed="rId2"/>
                <a:stretch>
                  <a:fillRect t="-2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C3CB10A-C1D9-E9A5-8B16-2EFE8CCAB371}"/>
              </a:ext>
            </a:extLst>
          </p:cNvPr>
          <p:cNvGrpSpPr/>
          <p:nvPr/>
        </p:nvGrpSpPr>
        <p:grpSpPr>
          <a:xfrm>
            <a:off x="2351951" y="3775678"/>
            <a:ext cx="6783423" cy="1804597"/>
            <a:chOff x="879895" y="3467428"/>
            <a:chExt cx="6081622" cy="18045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214F4E7-427D-C8C1-6B00-2A3061FF30D5}"/>
                    </a:ext>
                  </a:extLst>
                </p:cNvPr>
                <p:cNvSpPr txBox="1"/>
                <p:nvPr/>
              </p:nvSpPr>
              <p:spPr>
                <a:xfrm>
                  <a:off x="879895" y="3467428"/>
                  <a:ext cx="6081622" cy="18045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200"/>
                    </a:spcAft>
                  </a:pPr>
                  <a:r>
                    <a:rPr lang="de-DE" sz="2400" b="1" dirty="0"/>
                    <a:t>Jacobi-Matrix am Arbeitspunkt</a:t>
                  </a:r>
                  <a:endParaRPr lang="de-DE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|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       =</m:t>
                        </m:r>
                        <m:d>
                          <m:d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3.89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214F4E7-427D-C8C1-6B00-2A3061FF3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895" y="3467428"/>
                  <a:ext cx="6081622" cy="1804597"/>
                </a:xfrm>
                <a:prstGeom prst="rect">
                  <a:avLst/>
                </a:prstGeom>
                <a:blipFill>
                  <a:blip r:embed="rId3"/>
                  <a:stretch>
                    <a:fillRect t="-236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6CA1BC8-721D-824F-8744-DD8CFF356FAD}"/>
                    </a:ext>
                  </a:extLst>
                </p:cNvPr>
                <p:cNvSpPr txBox="1"/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68BFB70-37A2-BCF6-9CAE-DCBE0A85B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113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721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460FB-F756-D63B-C6D5-BC968B4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D26419-66A2-DA5E-0DC7-DD56C74B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64AF92-4B58-BDFB-2435-F27A2CDB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2EE3EAB-FCDD-1903-E5E8-82A158EAC4B1}"/>
                  </a:ext>
                </a:extLst>
              </p:cNvPr>
              <p:cNvSpPr txBox="1"/>
              <p:nvPr/>
            </p:nvSpPr>
            <p:spPr>
              <a:xfrm>
                <a:off x="899793" y="3653196"/>
                <a:ext cx="10756899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𝑘𝑟𝑖𝑡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1,2,3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))&lt;0</m:t>
                    </m:r>
                  </m:oMath>
                </a14:m>
                <a:r>
                  <a:rPr lang="de-DE" sz="2400" i="1" dirty="0"/>
                  <a:t> → </a:t>
                </a:r>
                <a:r>
                  <a:rPr lang="de-DE" sz="2400" b="1" dirty="0"/>
                  <a:t>lokale Stabilität</a:t>
                </a:r>
              </a:p>
              <a:p>
                <a:pPr>
                  <a:spcAft>
                    <a:spcPts val="3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𝑘𝑟𝑖𝑡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))&lt; 0  </m:t>
                    </m:r>
                    <m:r>
                      <m:rPr>
                        <m:sty m:val="p"/>
                      </m:rPr>
                      <a:rPr lang="de-DE" sz="2400" b="0" i="1" smtClean="0">
                        <a:latin typeface="Cambria Math" panose="02040503050406030204" pitchFamily="18" charset="0"/>
                      </a:rPr>
                      <m:t>und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))&gt;0</m:t>
                    </m:r>
                  </m:oMath>
                </a14:m>
                <a:r>
                  <a:rPr lang="de-DE" sz="2400" i="1" dirty="0"/>
                  <a:t> → </a:t>
                </a:r>
                <a:r>
                  <a:rPr lang="de-DE" sz="2400" b="1" dirty="0"/>
                  <a:t>keine lokale Stabilität</a:t>
                </a:r>
              </a:p>
              <a:p>
                <a:pPr algn="ctr">
                  <a:spcAft>
                    <a:spcPts val="1800"/>
                  </a:spcAft>
                </a:pPr>
                <a:r>
                  <a:rPr lang="de-DE" sz="2400" b="1" dirty="0"/>
                  <a:t>Bifurkation (Phänomen nichtlinearer Systeme)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2EE3EAB-FCDD-1903-E5E8-82A158EAC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93" y="3653196"/>
                <a:ext cx="10756899" cy="1862048"/>
              </a:xfrm>
              <a:prstGeom prst="rect">
                <a:avLst/>
              </a:prstGeom>
              <a:blipFill>
                <a:blip r:embed="rId2"/>
                <a:stretch>
                  <a:fillRect l="-170" t="-2288" r="-850" b="-65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E5E65BF-5078-75CC-55B4-83C348E178A6}"/>
                  </a:ext>
                </a:extLst>
              </p:cNvPr>
              <p:cNvSpPr txBox="1"/>
              <p:nvPr/>
            </p:nvSpPr>
            <p:spPr>
              <a:xfrm>
                <a:off x="2997760" y="2846266"/>
                <a:ext cx="2653561" cy="4847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𝑘𝑟𝑖𝑡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=2.83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E5E65BF-5078-75CC-55B4-83C348E17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760" y="2846266"/>
                <a:ext cx="2653561" cy="4847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AD9FA59-B122-1F24-3331-A79E05AB360C}"/>
                  </a:ext>
                </a:extLst>
              </p:cNvPr>
              <p:cNvSpPr txBox="1"/>
              <p:nvPr/>
            </p:nvSpPr>
            <p:spPr>
              <a:xfrm>
                <a:off x="717550" y="1555370"/>
                <a:ext cx="7401706" cy="100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de-DE" sz="2400" b="1" dirty="0"/>
                  <a:t>Aussagen zur lokalen Stabilität</a:t>
                </a:r>
                <a:endParaRPr lang="de-DE" sz="2400" dirty="0"/>
              </a:p>
              <a:p>
                <a:pPr algn="ctr"/>
                <a:r>
                  <a:rPr lang="de-DE" sz="2400" dirty="0"/>
                  <a:t>lokale Stabilität, falls gilt: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1,2,3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))&lt; 0</m:t>
                    </m:r>
                  </m:oMath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AD9FA59-B122-1F24-3331-A79E05AB3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55370"/>
                <a:ext cx="7401706" cy="1001108"/>
              </a:xfrm>
              <a:prstGeom prst="rect">
                <a:avLst/>
              </a:prstGeom>
              <a:blipFill>
                <a:blip r:embed="rId4"/>
                <a:stretch>
                  <a:fillRect t="-4268" b="-115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40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4F18-BF98-9A70-2B19-DD68E521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0534F-ACFE-14C9-7662-FC5F7565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9DADED-EF60-46BE-A2F8-9CE7140C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497EB6-36A9-75D4-B998-514F3ED5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869E6DD5-6009-0639-831C-EDD75D755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48000" y="1440000"/>
                <a:ext cx="1380939" cy="390271"/>
              </a:xfrm>
              <a:ln>
                <a:solidFill>
                  <a:schemeClr val="tx1"/>
                </a:solidFill>
              </a:ln>
            </p:spPr>
            <p:txBody>
              <a:bodyPr anchor="t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 xmlns="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EEBF649D-A9C8-3731-CCFF-A47C586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48000" y="1440000"/>
                <a:ext cx="1380939" cy="390271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9BB17735-D9D7-BEC1-05B9-332BDC006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558446" cy="47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4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E271-9D65-F5D9-CE50-29B5989B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89BFD-342F-EB6A-2F14-A2309E50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913AFF-DA24-5DED-78DE-ED01301E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/>
          </a:p>
        </p:txBody>
      </p:sp>
      <p:pic>
        <p:nvPicPr>
          <p:cNvPr id="6" name="Grafik 5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75D1296-C717-940B-4734-840054B7B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595584" cy="477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6DEFB439-B1E9-E11E-F4CB-3F7CBB2F56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9696C592-E55E-09B3-A3DC-B4139D8A0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el 1">
            <a:extLst>
              <a:ext uri="{FF2B5EF4-FFF2-40B4-BE49-F238E27FC236}">
                <a16:creationId xmlns:a16="http://schemas.microsoft.com/office/drawing/2014/main" id="{73424BC8-F283-8BBE-1B9B-604ECA54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</p:spTree>
    <p:extLst>
      <p:ext uri="{BB962C8B-B14F-4D97-AF65-F5344CB8AC3E}">
        <p14:creationId xmlns:p14="http://schemas.microsoft.com/office/powerpoint/2010/main" val="132558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4651-3026-1299-7878-075166CD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F4620B-1F6D-58C6-6744-2B8156D8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244BC9-E97A-5F34-113C-B926A21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79C34C14-BC66-2A5B-5D9D-BDAB440AFE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65182C3E-2122-0B9C-63DA-2916BD170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57C2951-CE3E-6137-6CA2-49992C051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605712" cy="47772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7C8C33DD-A3BE-65DD-19A0-2A397A3B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</p:spTree>
    <p:extLst>
      <p:ext uri="{BB962C8B-B14F-4D97-AF65-F5344CB8AC3E}">
        <p14:creationId xmlns:p14="http://schemas.microsoft.com/office/powerpoint/2010/main" val="206614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307C-8538-8CAB-BF0F-656A6440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8B7A0260-413C-7065-9E6B-6C85A31E7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pic>
        <p:nvPicPr>
          <p:cNvPr id="3" name="Grafik 2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841BD4B8-45F3-9119-90F1-B254ED5D5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"/>
          <a:stretch>
            <a:fillRect/>
          </a:stretch>
        </p:blipFill>
        <p:spPr>
          <a:xfrm>
            <a:off x="913165" y="1477106"/>
            <a:ext cx="10365670" cy="4538001"/>
          </a:xfrm>
          <a:prstGeom prst="rect">
            <a:avLst/>
          </a:prstGeo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E47206-C08F-D610-135A-484E117C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932801" cy="22416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Lennart und Richard Mende, 25EIM-AT, E144 Regelungstheorie, Prof. Dr.-Ing. Hendrik Richter, Prof. Dr.-Ing. Jens Jäkel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817C0-3107-143A-7F80-F4F05ECE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1" y="6206400"/>
            <a:ext cx="490255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5DDB454C-C8BB-450C-A446-EA3D813FE484}" type="slidenum">
              <a:rPr lang="de-DE" smtClean="0"/>
              <a:pPr>
                <a:spcAft>
                  <a:spcPts val="600"/>
                </a:spcAft>
              </a:pPr>
              <a:t>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9A7A7E35-B6A2-53F5-2053-8A2D59E3D0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1058" y="1108800"/>
                <a:ext cx="1486492" cy="390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𝒎𝑨</m:t>
                      </m:r>
                    </m:oMath>
                  </m:oMathPara>
                </a14:m>
                <a:endParaRPr lang="de-DE" sz="2400" b="1" i="1" dirty="0"/>
              </a:p>
            </p:txBody>
          </p:sp>
        </mc:Choice>
        <mc:Fallback xmlns="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9A7A7E35-B6A2-53F5-2053-8A2D59E3D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058" y="1108800"/>
                <a:ext cx="1486492" cy="390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107BE600-3B15-2F6C-1348-D0135FD673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8408" y="1108800"/>
                <a:ext cx="1486492" cy="390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𝒎𝑨</m:t>
                      </m:r>
                    </m:oMath>
                  </m:oMathPara>
                </a14:m>
                <a:endParaRPr lang="de-DE" sz="2400" b="1" i="1" dirty="0"/>
              </a:p>
            </p:txBody>
          </p:sp>
        </mc:Choice>
        <mc:Fallback xmlns="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107BE600-3B15-2F6C-1348-D0135FD67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408" y="1108800"/>
                <a:ext cx="1486492" cy="390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894FCEFE-2904-E56C-2210-8343858C9C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3708" y="1108800"/>
                <a:ext cx="1486492" cy="390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𝒎𝑨</m:t>
                      </m:r>
                    </m:oMath>
                  </m:oMathPara>
                </a14:m>
                <a:endParaRPr lang="de-DE" sz="2400" b="1" i="1" dirty="0"/>
              </a:p>
            </p:txBody>
          </p:sp>
        </mc:Choice>
        <mc:Fallback xmlns="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894FCEFE-2904-E56C-2210-8343858C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708" y="1108800"/>
                <a:ext cx="1486492" cy="390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17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E16B5-7E78-ED81-B3F6-C388C93D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Lineare Zustandsrückführung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1414CC-95CB-8E12-6733-A5A63B94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Richter, Prof. Dr.-Ing. Jens Jäkel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D52339-9147-12CE-8EAA-69C37703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810078D-C86B-3BC3-D6CC-8AF073EEB040}"/>
                  </a:ext>
                </a:extLst>
              </p:cNvPr>
              <p:cNvSpPr txBox="1"/>
              <p:nvPr/>
            </p:nvSpPr>
            <p:spPr>
              <a:xfrm>
                <a:off x="517235" y="2006244"/>
                <a:ext cx="24437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̇"/>
                          <m:ctrlP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810078D-C86B-3BC3-D6CC-8AF073EEB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5" y="2006244"/>
                <a:ext cx="2443746" cy="369332"/>
              </a:xfrm>
              <a:prstGeom prst="rect">
                <a:avLst/>
              </a:prstGeom>
              <a:blipFill>
                <a:blip r:embed="rId2"/>
                <a:stretch>
                  <a:fillRect l="-4489" b="-98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119ADEF-3860-EEE7-8B39-1C8A1A6D625B}"/>
              </a:ext>
            </a:extLst>
          </p:cNvPr>
          <p:cNvGrpSpPr/>
          <p:nvPr/>
        </p:nvGrpSpPr>
        <p:grpSpPr>
          <a:xfrm>
            <a:off x="4303059" y="1672242"/>
            <a:ext cx="7171390" cy="2103140"/>
            <a:chOff x="3048000" y="3074704"/>
            <a:chExt cx="5982372" cy="2103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510C00E-A68F-0AE5-3A8A-B282C1635FEA}"/>
                    </a:ext>
                  </a:extLst>
                </p:cNvPr>
                <p:cNvSpPr txBox="1"/>
                <p:nvPr/>
              </p:nvSpPr>
              <p:spPr>
                <a:xfrm>
                  <a:off x="3048000" y="3074704"/>
                  <a:ext cx="5982372" cy="21031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|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       =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3.89⋅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−100</m:t>
                                  </m:r>
                                </m: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−100</m:t>
                                  </m:r>
                                </m: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510C00E-A68F-0AE5-3A8A-B282C1635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3074704"/>
                  <a:ext cx="5982372" cy="21031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D21D5A4-0366-7732-457D-40B3D0E0C4B4}"/>
                    </a:ext>
                  </a:extLst>
                </p:cNvPr>
                <p:cNvSpPr txBox="1"/>
                <p:nvPr/>
              </p:nvSpPr>
              <p:spPr>
                <a:xfrm>
                  <a:off x="4118627" y="3865048"/>
                  <a:ext cx="16164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D21D5A4-0366-7732-457D-40B3D0E0C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627" y="3865048"/>
                  <a:ext cx="1616475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D821450-21BF-6550-EAA3-DC5C48C9BDBA}"/>
                  </a:ext>
                </a:extLst>
              </p:cNvPr>
              <p:cNvSpPr txBox="1"/>
              <p:nvPr/>
            </p:nvSpPr>
            <p:spPr>
              <a:xfrm>
                <a:off x="412376" y="2561898"/>
                <a:ext cx="25486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̇"/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BG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∆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D821450-21BF-6550-EAA3-DC5C48C9B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76" y="2561898"/>
                <a:ext cx="2548605" cy="461665"/>
              </a:xfrm>
              <a:prstGeom prst="rect">
                <a:avLst/>
              </a:prstGeom>
              <a:blipFill>
                <a:blip r:embed="rId5"/>
                <a:stretch>
                  <a:fillRect l="-718" b="-197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7A74FCD-E879-2F00-A057-E872AD893445}"/>
              </a:ext>
            </a:extLst>
          </p:cNvPr>
          <p:cNvGrpSpPr/>
          <p:nvPr/>
        </p:nvGrpSpPr>
        <p:grpSpPr>
          <a:xfrm>
            <a:off x="4320000" y="3053132"/>
            <a:ext cx="5002245" cy="1885196"/>
            <a:chOff x="4643331" y="3515095"/>
            <a:chExt cx="4382559" cy="18851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39C17D0-E1CB-F2FE-2EAA-737349FA00E7}"/>
                    </a:ext>
                  </a:extLst>
                </p:cNvPr>
                <p:cNvSpPr txBox="1"/>
                <p:nvPr/>
              </p:nvSpPr>
              <p:spPr>
                <a:xfrm>
                  <a:off x="4643331" y="3515095"/>
                  <a:ext cx="4382559" cy="18851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|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       =</m:t>
                        </m:r>
                        <m:d>
                          <m:d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de-DE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39C17D0-E1CB-F2FE-2EAA-737349FA0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331" y="3515095"/>
                  <a:ext cx="4382559" cy="188519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C5EC526D-0C47-7EAA-521A-A02DA2873CDA}"/>
                    </a:ext>
                  </a:extLst>
                </p:cNvPr>
                <p:cNvSpPr txBox="1"/>
                <p:nvPr/>
              </p:nvSpPr>
              <p:spPr>
                <a:xfrm>
                  <a:off x="5828975" y="4188147"/>
                  <a:ext cx="16164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C5EC526D-0C47-7EAA-521A-A02DA2873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975" y="4188147"/>
                  <a:ext cx="16164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7EBAF6E-C0EF-4659-0C7F-C6677B190997}"/>
                  </a:ext>
                </a:extLst>
              </p:cNvPr>
              <p:cNvSpPr txBox="1"/>
              <p:nvPr/>
            </p:nvSpPr>
            <p:spPr>
              <a:xfrm>
                <a:off x="517235" y="3340277"/>
                <a:ext cx="2339167" cy="771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−2±2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de-DE" sz="2400" b="0" i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𝑒𝑖𝑔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7EBAF6E-C0EF-4659-0C7F-C6677B190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5" y="3340277"/>
                <a:ext cx="2339167" cy="771814"/>
              </a:xfrm>
              <a:prstGeom prst="rect">
                <a:avLst/>
              </a:prstGeom>
              <a:blipFill>
                <a:blip r:embed="rId8"/>
                <a:stretch>
                  <a:fillRect l="-5990" r="-1302" b="-16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D797E77-4C78-4A99-83EC-2378BF102E30}"/>
                  </a:ext>
                </a:extLst>
              </p:cNvPr>
              <p:cNvSpPr txBox="1"/>
              <p:nvPr/>
            </p:nvSpPr>
            <p:spPr>
              <a:xfrm>
                <a:off x="5927214" y="4851902"/>
                <a:ext cx="17878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D797E77-4C78-4A99-83EC-2378BF102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214" y="4851902"/>
                <a:ext cx="1787815" cy="461665"/>
              </a:xfrm>
              <a:prstGeom prst="rect">
                <a:avLst/>
              </a:prstGeom>
              <a:blipFill>
                <a:blip r:embed="rId9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1CFB702A-B0CF-431B-19A4-FB302AF6E9C1}"/>
                  </a:ext>
                </a:extLst>
              </p:cNvPr>
              <p:cNvSpPr txBox="1"/>
              <p:nvPr/>
            </p:nvSpPr>
            <p:spPr>
              <a:xfrm>
                <a:off x="8588409" y="4836374"/>
                <a:ext cx="2530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1CFB702A-B0CF-431B-19A4-FB302AF6E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09" y="4836374"/>
                <a:ext cx="2530909" cy="461665"/>
              </a:xfrm>
              <a:prstGeom prst="rect">
                <a:avLst/>
              </a:prstGeom>
              <a:blipFill>
                <a:blip r:embed="rId10"/>
                <a:stretch>
                  <a:fillRect r="-8916" b="-197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E1318B6-D2BC-E859-3BF1-6354FA86B09E}"/>
                  </a:ext>
                </a:extLst>
              </p:cNvPr>
              <p:cNvSpPr txBox="1"/>
              <p:nvPr/>
            </p:nvSpPr>
            <p:spPr>
              <a:xfrm>
                <a:off x="412376" y="4713137"/>
                <a:ext cx="4696596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1.0149</m:t>
                                </m:r>
                              </m:e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999.9383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E1318B6-D2BC-E859-3BF1-6354FA86B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76" y="4713137"/>
                <a:ext cx="4696596" cy="7081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feld 21">
            <a:extLst>
              <a:ext uri="{FF2B5EF4-FFF2-40B4-BE49-F238E27FC236}">
                <a16:creationId xmlns:a16="http://schemas.microsoft.com/office/drawing/2014/main" id="{F0CD1242-67F4-DE2B-9FBE-AC9CD431D70C}"/>
              </a:ext>
            </a:extLst>
          </p:cNvPr>
          <p:cNvSpPr txBox="1"/>
          <p:nvPr/>
        </p:nvSpPr>
        <p:spPr>
          <a:xfrm>
            <a:off x="5320565" y="4836375"/>
            <a:ext cx="37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→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2086895-7726-186A-13F3-64F5DC22E603}"/>
              </a:ext>
            </a:extLst>
          </p:cNvPr>
          <p:cNvSpPr txBox="1"/>
          <p:nvPr/>
        </p:nvSpPr>
        <p:spPr>
          <a:xfrm>
            <a:off x="7888754" y="4836375"/>
            <a:ext cx="37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13465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7" grpId="0"/>
      <p:bldP spid="18" grpId="0"/>
      <p:bldP spid="19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8B9DD-50EE-CB93-D1D4-B6983BF9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Eingangs-Ausgangs-Linearisierung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3AF2F3-FAB1-71D8-0E4E-CB561A90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6B5902-0EDF-D08A-686F-D3B6F7A0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11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DC76B7DB-D4EE-82B3-D09A-101D24B155AC}"/>
                  </a:ext>
                </a:extLst>
              </p:cNvPr>
              <p:cNvSpPr txBox="1"/>
              <p:nvPr/>
            </p:nvSpPr>
            <p:spPr>
              <a:xfrm>
                <a:off x="717550" y="1562100"/>
                <a:ext cx="2503762" cy="1046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de-DE" sz="2400" b="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DC76B7DB-D4EE-82B3-D09A-101D24B15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62100"/>
                <a:ext cx="2503762" cy="1046440"/>
              </a:xfrm>
              <a:prstGeom prst="rect">
                <a:avLst/>
              </a:prstGeom>
              <a:blipFill>
                <a:blip r:embed="rId2"/>
                <a:stretch>
                  <a:fillRect l="-2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1ADA07E-C7A2-CF2D-CB57-4AA1A261BB39}"/>
                  </a:ext>
                </a:extLst>
              </p:cNvPr>
              <p:cNvSpPr txBox="1"/>
              <p:nvPr/>
            </p:nvSpPr>
            <p:spPr>
              <a:xfrm>
                <a:off x="625099" y="2790735"/>
                <a:ext cx="217356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i="1" dirty="0"/>
                  <a:t>  </a:t>
                </a: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400" i="1" dirty="0"/>
                  <a:t> 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1ADA07E-C7A2-CF2D-CB57-4AA1A261B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9" y="2790735"/>
                <a:ext cx="2173569" cy="1661993"/>
              </a:xfrm>
              <a:prstGeom prst="rect">
                <a:avLst/>
              </a:prstGeom>
              <a:blipFill>
                <a:blip r:embed="rId3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B0872DA1-7B8D-BA48-B5C8-6851AB51C185}"/>
              </a:ext>
            </a:extLst>
          </p:cNvPr>
          <p:cNvSpPr txBox="1"/>
          <p:nvPr/>
        </p:nvSpPr>
        <p:spPr>
          <a:xfrm>
            <a:off x="26893" y="2790735"/>
            <a:ext cx="8572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arenBoth"/>
            </a:pPr>
            <a:r>
              <a:rPr lang="de-DE" sz="2400" dirty="0"/>
              <a:t> 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arenBoth"/>
            </a:pPr>
            <a:r>
              <a:rPr lang="de-DE" sz="2400" dirty="0"/>
              <a:t> 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arenBoth"/>
            </a:pPr>
            <a:r>
              <a:rPr lang="de-DE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892B9D-82F7-7726-0211-E3AB7DE47E90}"/>
                  </a:ext>
                </a:extLst>
              </p:cNvPr>
              <p:cNvSpPr txBox="1"/>
              <p:nvPr/>
            </p:nvSpPr>
            <p:spPr>
              <a:xfrm>
                <a:off x="2638605" y="2784976"/>
                <a:ext cx="1866900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de-DE" sz="2400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de-DE" sz="24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</m:oMath>
                </a14:m>
                <a:endParaRPr lang="de-DE" sz="2400" dirty="0"/>
              </a:p>
              <a:p>
                <a:pPr>
                  <a:spcAft>
                    <a:spcPts val="1200"/>
                  </a:spcAft>
                </a:pPr>
                <a:r>
                  <a:rPr lang="de-DE" sz="2400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de-DE" sz="24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endParaRPr lang="de-DE" sz="2400" dirty="0"/>
              </a:p>
              <a:p>
                <a:pPr>
                  <a:spcAft>
                    <a:spcPts val="1200"/>
                  </a:spcAft>
                </a:pPr>
                <a:r>
                  <a:rPr lang="de-DE" sz="2400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de-DE" sz="24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de-DE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892B9D-82F7-7726-0211-E3AB7DE47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05" y="2784976"/>
                <a:ext cx="1866900" cy="1508105"/>
              </a:xfrm>
              <a:prstGeom prst="rect">
                <a:avLst/>
              </a:prstGeom>
              <a:blipFill>
                <a:blip r:embed="rId4"/>
                <a:stretch>
                  <a:fillRect l="-5229" t="-3239" b="-85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E286E70-22BE-8BA6-A8C3-875359B2435B}"/>
                  </a:ext>
                </a:extLst>
              </p:cNvPr>
              <p:cNvSpPr txBox="1"/>
              <p:nvPr/>
            </p:nvSpPr>
            <p:spPr>
              <a:xfrm>
                <a:off x="3590927" y="1321884"/>
                <a:ext cx="5219700" cy="129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de-DE" sz="24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a:rPr lang="de-DE" sz="2400" b="0" i="0" smtClean="0">
                                    <a:latin typeface="Cambria Math" panose="02040503050406030204" pitchFamily="18" charset="0"/>
                                  </a:rPr>
                                  <m:t>xp</m:t>
                                </m:r>
                                <m:d>
                                  <m:d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8.92</m:t>
                                    </m:r>
                                    <m:sSub>
                                      <m:sSubPr>
                                        <m:ctrl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de-DE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2400" b="0" i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E286E70-22BE-8BA6-A8C3-875359B24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27" y="1321884"/>
                <a:ext cx="5219700" cy="1291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FB8B8C4-D87B-55AC-57D7-A252B123DD84}"/>
                  </a:ext>
                </a:extLst>
              </p:cNvPr>
              <p:cNvSpPr txBox="1"/>
              <p:nvPr/>
            </p:nvSpPr>
            <p:spPr>
              <a:xfrm>
                <a:off x="7448550" y="1434221"/>
                <a:ext cx="6096000" cy="106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de-D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FB8B8C4-D87B-55AC-57D7-A252B123D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550" y="1434221"/>
                <a:ext cx="6096000" cy="10634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A1D4A2E-15F0-D745-DD08-5F8915AADB42}"/>
                  </a:ext>
                </a:extLst>
              </p:cNvPr>
              <p:cNvSpPr txBox="1"/>
              <p:nvPr/>
            </p:nvSpPr>
            <p:spPr>
              <a:xfrm>
                <a:off x="732415" y="4469295"/>
                <a:ext cx="2357248" cy="1530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h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h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(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𝑥</m:t>
                                      </m:r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de-DE" sz="2400" b="0" i="1" smtClean="0">
                                              <a:latin typeface="Cambria Math" panose="02040503050406030204" pitchFamily="18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e-DE" sz="2400" b="0" i="1" smtClean="0"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de-DE" sz="2400" b="0" i="1" smtClean="0">
                                                    <a:latin typeface="Cambria Math" panose="02040503050406030204" pitchFamily="18" charset="0"/>
                                                    <a:sym typeface="Symbol" panose="05050102010706020507" pitchFamily="18" charset="2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de-DE" sz="2400" b="0" i="1" smtClean="0">
                                                    <a:latin typeface="Cambria Math" panose="02040503050406030204" pitchFamily="18" charset="0"/>
                                                    <a:sym typeface="Symbol" panose="05050102010706020507" pitchFamily="18" charset="2"/>
                                                  </a:rPr>
                                                  <m:t>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e-DE" sz="2400" b="0" i="1" smtClean="0">
                                                    <a:latin typeface="Cambria Math" panose="02040503050406030204" pitchFamily="18" charset="0"/>
                                                    <a:sym typeface="Symbol" panose="05050102010706020507" pitchFamily="18" charset="2"/>
                                                  </a:rPr>
                                                  <m:t>𝑓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de-DE" sz="2400" b="0" i="1" smtClean="0">
                                                    <a:latin typeface="Cambria Math" panose="02040503050406030204" pitchFamily="18" charset="0"/>
                                                    <a:sym typeface="Symbol" panose="05050102010706020507" pitchFamily="18" charset="2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de-DE" sz="2400" b="0" i="1" smtClean="0">
                                                    <a:latin typeface="Cambria Math" panose="02040503050406030204" pitchFamily="18" charset="0"/>
                                                    <a:sym typeface="Symbol" panose="05050102010706020507" pitchFamily="18" charset="2"/>
                                                  </a:rPr>
                                                  <m:t>−1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h</m:t>
                                            </m:r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(</m:t>
                                            </m:r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2400" i="1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A1D4A2E-15F0-D745-DD08-5F8915AAD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15" y="4469295"/>
                <a:ext cx="2357248" cy="15302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4AD9C55-1735-A068-0A0E-AEE46EC5CB31}"/>
                  </a:ext>
                </a:extLst>
              </p:cNvPr>
              <p:cNvSpPr txBox="1"/>
              <p:nvPr/>
            </p:nvSpPr>
            <p:spPr>
              <a:xfrm>
                <a:off x="3864111" y="4498663"/>
                <a:ext cx="2970813" cy="1569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de-DE" sz="2400" b="0" i="1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sz="2400" b="0" i="1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m:rPr>
                          <m:sty m:val="p"/>
                        </m:rPr>
                        <a:rPr lang="de-DE" sz="2400" i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𝑠𝑜𝑙𝑙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4AD9C55-1735-A068-0A0E-AEE46EC5C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111" y="4498663"/>
                <a:ext cx="2970813" cy="156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3926810-47CC-BF4D-7309-EEC790BC09BC}"/>
                  </a:ext>
                </a:extLst>
              </p:cNvPr>
              <p:cNvSpPr txBox="1"/>
              <p:nvPr/>
            </p:nvSpPr>
            <p:spPr>
              <a:xfrm>
                <a:off x="4505505" y="3013247"/>
                <a:ext cx="7772272" cy="1231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𝑟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=1: 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A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=0; 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B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=1; 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=1; </m:t>
                      </m:r>
                      <m:r>
                        <m:rPr>
                          <m:sty m:val="p"/>
                        </m:rPr>
                        <a:rPr lang="de-DE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G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=5 </m:t>
                      </m:r>
                    </m:oMath>
                  </m:oMathPara>
                </a14:m>
                <a:endParaRPr lang="de-DE" sz="2400" b="0" dirty="0">
                  <a:sym typeface="Symbol" panose="05050102010706020507" pitchFamily="18" charset="2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=2: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de-DE" sz="2400" b="0" i="1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=(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mr>
                    </m:m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i="1" dirty="0"/>
                  <a:t> </a:t>
                </a: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3926810-47CC-BF4D-7309-EEC790BC0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05" y="3013247"/>
                <a:ext cx="7772272" cy="1231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12494C7B-9BD3-7EDF-D1D9-930E0C42180F}"/>
                  </a:ext>
                </a:extLst>
              </p:cNvPr>
              <p:cNvSpPr txBox="1"/>
              <p:nvPr/>
            </p:nvSpPr>
            <p:spPr>
              <a:xfrm>
                <a:off x="7609372" y="4398655"/>
                <a:ext cx="4582628" cy="1762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de-DE" sz="2400" i="1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  <m:sup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2400" i="1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12494C7B-9BD3-7EDF-D1D9-930E0C421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372" y="4398655"/>
                <a:ext cx="4582628" cy="17622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1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382B48-0AE1-B49E-D455-B3E24A1A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F385-7378-4A32-85D2-65025305A3A0}" type="datetime4">
              <a:rPr lang="de-DE" smtClean="0"/>
              <a:pPr/>
              <a:t>30. Januar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A05137-1F18-6B1B-FEE0-9096841B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E90F8F0-1A6F-D80D-C59B-04905937CC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 sz="5400" b="1" dirty="0"/>
              <a:t>VIELEN DANK FÜR IHRE AUFMERKSAMKEIT!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F996791-0E2F-E028-62C0-5CFCE5D332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62384E-703B-BF7A-6FFF-98B0F8902B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395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7D46-1321-04DA-04FD-373CFB3C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E180B-0916-6A70-C00A-48FF63A1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D77632-6247-D138-A25B-3877C373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2B37F7-0FC6-23A9-D7D6-CD6FE191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13</a:t>
            </a:fld>
            <a:endParaRPr lang="de-DE"/>
          </a:p>
        </p:txBody>
      </p:sp>
      <p:pic>
        <p:nvPicPr>
          <p:cNvPr id="6" name="Grafik 5" descr="Ein Bild, das Diagramm, Reihe, technische Zeichnung, Entwurf enthält.&#10;&#10;KI-generierte Inhalte können fehlerhaft sein.">
            <a:extLst>
              <a:ext uri="{FF2B5EF4-FFF2-40B4-BE49-F238E27FC236}">
                <a16:creationId xmlns:a16="http://schemas.microsoft.com/office/drawing/2014/main" id="{0C7B2146-CE2F-DB2F-D296-C712A84E7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54"/>
          <a:stretch>
            <a:fillRect/>
          </a:stretch>
        </p:blipFill>
        <p:spPr>
          <a:xfrm>
            <a:off x="1674531" y="1518375"/>
            <a:ext cx="5795944" cy="40828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96C4FDF-BB70-806E-5FAE-3966DCF20AED}"/>
                  </a:ext>
                </a:extLst>
              </p:cNvPr>
              <p:cNvSpPr txBox="1"/>
              <p:nvPr/>
            </p:nvSpPr>
            <p:spPr>
              <a:xfrm>
                <a:off x="6165542" y="2296258"/>
                <a:ext cx="1304933" cy="695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de-DE" sz="2000" b="1" i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96C4FDF-BB70-806E-5FAE-3966DCF2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42" y="2296258"/>
                <a:ext cx="1304933" cy="695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26D6102-09AB-51EC-A6C3-E5111AEB9DCC}"/>
                  </a:ext>
                </a:extLst>
              </p:cNvPr>
              <p:cNvSpPr txBox="1"/>
              <p:nvPr/>
            </p:nvSpPr>
            <p:spPr>
              <a:xfrm>
                <a:off x="8116322" y="1883164"/>
                <a:ext cx="2140486" cy="1521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Boltzmann-Konstante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= 1.4 ⋅</m:t>
                      </m:r>
                      <m:sSup>
                        <m:sSup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−23</m:t>
                          </m:r>
                        </m:sup>
                      </m:sSup>
                      <m:f>
                        <m:f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sz="1600" i="1" dirty="0"/>
              </a:p>
              <a:p>
                <a:pPr>
                  <a:spcAft>
                    <a:spcPts val="600"/>
                  </a:spcAft>
                </a:pPr>
                <a:r>
                  <a:rPr lang="de-DE" sz="1600" dirty="0"/>
                  <a:t>Elementarladung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= 1.6 ⋅</m:t>
                      </m:r>
                      <m:sSup>
                        <m:sSup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sz="1600" i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26D6102-09AB-51EC-A6C3-E5111AEB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322" y="1883164"/>
                <a:ext cx="2140486" cy="1521250"/>
              </a:xfrm>
              <a:prstGeom prst="rect">
                <a:avLst/>
              </a:prstGeom>
              <a:blipFill>
                <a:blip r:embed="rId4"/>
                <a:stretch>
                  <a:fillRect l="-1420" t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3C2D876-B4CE-5883-198D-C737458BE98D}"/>
              </a:ext>
            </a:extLst>
          </p:cNvPr>
          <p:cNvSpPr txBox="1"/>
          <p:nvPr/>
        </p:nvSpPr>
        <p:spPr>
          <a:xfrm>
            <a:off x="1207806" y="3487027"/>
            <a:ext cx="182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Temperatur in °C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8BC7C63-35E2-5B84-54C1-6714E9B1DA5E}"/>
              </a:ext>
            </a:extLst>
          </p:cNvPr>
          <p:cNvSpPr txBox="1"/>
          <p:nvPr/>
        </p:nvSpPr>
        <p:spPr>
          <a:xfrm>
            <a:off x="2900469" y="5564627"/>
            <a:ext cx="182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273.15 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0A5FAA3-0321-09F3-F9BF-B3411EA7554E}"/>
              </a:ext>
            </a:extLst>
          </p:cNvPr>
          <p:cNvSpPr txBox="1"/>
          <p:nvPr/>
        </p:nvSpPr>
        <p:spPr>
          <a:xfrm>
            <a:off x="5165805" y="4178778"/>
            <a:ext cx="1669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Temperatur in K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BB011E7-F87C-7160-4C92-11CE47ED5A34}"/>
              </a:ext>
            </a:extLst>
          </p:cNvPr>
          <p:cNvCxnSpPr>
            <a:cxnSpLocks/>
          </p:cNvCxnSpPr>
          <p:nvPr/>
        </p:nvCxnSpPr>
        <p:spPr>
          <a:xfrm flipH="1" flipV="1">
            <a:off x="5036344" y="3825581"/>
            <a:ext cx="333375" cy="39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7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2D75-E306-C14C-6334-59560B0E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ABE75-E4EC-CE35-4C8D-B2DE6D9DE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22E56F-CE09-5816-19E1-3F09ACA5B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89046" y="1440000"/>
                <a:ext cx="2434178" cy="371027"/>
              </a:xfrm>
              <a:ln>
                <a:solidFill>
                  <a:schemeClr val="tx1"/>
                </a:solidFill>
              </a:ln>
            </p:spPr>
            <p:txBody>
              <a:bodyPr anchor="t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𝒎𝑨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22E56F-CE09-5816-19E1-3F09ACA5B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89046" y="1440000"/>
                <a:ext cx="2434178" cy="371027"/>
              </a:xfrm>
              <a:blipFill>
                <a:blip r:embed="rId2"/>
                <a:stretch>
                  <a:fillRect b="-31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D05384-6EAE-5361-BCDC-D7F569BD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125011-2157-3E29-395D-8EBA4FF1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A4B607-9620-2901-CF17-ACF7484C8082}"/>
                  </a:ext>
                </a:extLst>
              </p:cNvPr>
              <p:cNvSpPr txBox="1"/>
              <p:nvPr/>
            </p:nvSpPr>
            <p:spPr>
              <a:xfrm>
                <a:off x="9189046" y="2218936"/>
                <a:ext cx="1641418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A4B607-9620-2901-CF17-ACF7484C8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2218936"/>
                <a:ext cx="164141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76F2273-189C-6793-FB5A-B4378A792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88" y="1264066"/>
            <a:ext cx="8678383" cy="4776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735AF9A-8B82-543A-4066-421ABE977C8C}"/>
                  </a:ext>
                </a:extLst>
              </p:cNvPr>
              <p:cNvSpPr txBox="1"/>
              <p:nvPr/>
            </p:nvSpPr>
            <p:spPr>
              <a:xfrm>
                <a:off x="9189046" y="5006841"/>
                <a:ext cx="1719056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735AF9A-8B82-543A-4066-421ABE97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5006841"/>
                <a:ext cx="1719056" cy="400110"/>
              </a:xfrm>
              <a:prstGeom prst="rect">
                <a:avLst/>
              </a:prstGeom>
              <a:blipFill>
                <a:blip r:embed="rId5"/>
                <a:stretch>
                  <a:fillRect b="-14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1B7270B-1622-CDD1-DB6E-C1EC9722970F}"/>
                  </a:ext>
                </a:extLst>
              </p:cNvPr>
              <p:cNvSpPr txBox="1"/>
              <p:nvPr/>
            </p:nvSpPr>
            <p:spPr>
              <a:xfrm>
                <a:off x="9189046" y="4422064"/>
                <a:ext cx="1915600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1B7270B-1622-CDD1-DB6E-C1EC97229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4422064"/>
                <a:ext cx="1915600" cy="400110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54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EB03-263E-7C33-3417-B8D82B3C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6EA00-9B2D-9112-7A63-3E46732B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Regelung durch Zustandsrückführung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026CC1-EDA2-FD67-2D19-03256610B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7550" y="1311070"/>
                <a:ext cx="10756899" cy="4690468"/>
              </a:xfrm>
            </p:spPr>
            <p:txBody>
              <a:bodyPr anchor="t"/>
              <a:lstStyle/>
              <a:p>
                <a:pPr algn="ctr">
                  <a:spcAft>
                    <a:spcPts val="1800"/>
                  </a:spcAft>
                  <a:buNone/>
                </a:pPr>
                <a:r>
                  <a:rPr lang="de-DE" sz="2400" dirty="0"/>
                  <a:t>Regelung für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i="1" dirty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de-DE" sz="2400" i="1" dirty="0"/>
                  <a:t>V  </a:t>
                </a:r>
                <a:r>
                  <a:rPr lang="de-DE" sz="2400" dirty="0"/>
                  <a:t>und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i="1" dirty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r>
                  <a:rPr lang="de-DE" sz="2400" i="1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026CC1-EDA2-FD67-2D19-03256610B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7550" y="1311070"/>
                <a:ext cx="10756899" cy="4690468"/>
              </a:xfrm>
              <a:blipFill>
                <a:blip r:embed="rId2"/>
                <a:stretch>
                  <a:fillRect t="-19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9583D8-4C4E-EAA9-8303-5013908D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CD4AC4-4BB1-2D50-4A36-18E2B5BD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15</a:t>
            </a:fld>
            <a:endParaRPr lang="de-DE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CEC2FDE0-DA2F-4905-A936-37EBE8F9AC76}"/>
              </a:ext>
            </a:extLst>
          </p:cNvPr>
          <p:cNvGrpSpPr/>
          <p:nvPr/>
        </p:nvGrpSpPr>
        <p:grpSpPr>
          <a:xfrm>
            <a:off x="1382399" y="1885104"/>
            <a:ext cx="9590401" cy="4320000"/>
            <a:chOff x="717549" y="1885104"/>
            <a:chExt cx="9590401" cy="4320000"/>
          </a:xfrm>
        </p:grpSpPr>
        <p:pic>
          <p:nvPicPr>
            <p:cNvPr id="11" name="Grafik 10" descr="Ein Bild, das Text, Screenshot, Reihe, Diagramm enthält.&#10;&#10;KI-generierte Inhalte können fehlerhaft sein.">
              <a:extLst>
                <a:ext uri="{FF2B5EF4-FFF2-40B4-BE49-F238E27FC236}">
                  <a16:creationId xmlns:a16="http://schemas.microsoft.com/office/drawing/2014/main" id="{F8E7EADE-6AB2-B52F-F184-DADC04A6D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549" y="1885104"/>
              <a:ext cx="7290572" cy="43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87CFF7C-AD8E-8339-FCC4-54FE634C1D2C}"/>
                    </a:ext>
                  </a:extLst>
                </p:cNvPr>
                <p:cNvSpPr txBox="1"/>
                <p:nvPr/>
              </p:nvSpPr>
              <p:spPr>
                <a:xfrm>
                  <a:off x="8280000" y="4648882"/>
                  <a:ext cx="1641418" cy="4001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=2.36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de-DE" sz="2000" i="1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87CFF7C-AD8E-8339-FCC4-54FE634C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4648882"/>
                  <a:ext cx="1641418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B2D8065-1262-F1F7-FC28-89D13BE5FCCC}"/>
                    </a:ext>
                  </a:extLst>
                </p:cNvPr>
                <p:cNvSpPr txBox="1"/>
                <p:nvPr/>
              </p:nvSpPr>
              <p:spPr>
                <a:xfrm>
                  <a:off x="8280000" y="5544000"/>
                  <a:ext cx="1719056" cy="4001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de-DE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.36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de-DE" sz="2000" i="1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B2D8065-1262-F1F7-FC28-89D13BE5F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544000"/>
                  <a:ext cx="1719056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47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A1B1B0A0-EB18-0FCF-A7B7-C1F7774BBFCD}"/>
                    </a:ext>
                  </a:extLst>
                </p:cNvPr>
                <p:cNvSpPr txBox="1"/>
                <p:nvPr/>
              </p:nvSpPr>
              <p:spPr>
                <a:xfrm>
                  <a:off x="8280000" y="2088000"/>
                  <a:ext cx="2027950" cy="4001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=10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</m:oMath>
                    </m:oMathPara>
                  </a14:m>
                  <a:endParaRPr lang="de-DE" sz="2000" i="1"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A1B1B0A0-EB18-0FCF-A7B7-C1F7774BB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088000"/>
                  <a:ext cx="202795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848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3AD9-1D7A-1161-0814-B8368250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B8A06E-BA2E-E454-1DF1-375B01FC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Regelung durch Eingangs-Ausgangs-Linearisierung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86D1EA-9580-C969-AF52-D2E3381D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49" y="1220880"/>
            <a:ext cx="10756899" cy="4690468"/>
          </a:xfrm>
        </p:spPr>
        <p:txBody>
          <a:bodyPr anchor="t"/>
          <a:lstStyle/>
          <a:p>
            <a:pPr algn="ctr">
              <a:spcAft>
                <a:spcPts val="1800"/>
              </a:spcAft>
              <a:buNone/>
            </a:pPr>
            <a:r>
              <a:rPr lang="de-DE" sz="2400" dirty="0"/>
              <a:t>Regelung von U</a:t>
            </a:r>
            <a:r>
              <a:rPr lang="de-DE" sz="2400" baseline="-25000" dirty="0"/>
              <a:t>2</a:t>
            </a:r>
            <a:r>
              <a:rPr lang="de-DE" sz="2400" dirty="0"/>
              <a:t> auf 10 V</a:t>
            </a:r>
          </a:p>
          <a:p>
            <a:pPr algn="ctr">
              <a:spcAft>
                <a:spcPts val="1800"/>
              </a:spcAft>
              <a:buNone/>
            </a:pP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BE402C-F7E4-12A7-03D7-52C94111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3BC3AD-E737-F7A6-725E-59C4B6F6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16</a:t>
            </a:fld>
            <a:endParaRPr lang="de-DE"/>
          </a:p>
        </p:txBody>
      </p:sp>
      <p:pic>
        <p:nvPicPr>
          <p:cNvPr id="10" name="Grafik 9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99A1011-B42D-F283-47DF-D7EC87B34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623" y="1773024"/>
            <a:ext cx="787369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0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3269-CCC9-B0C4-345C-5ABDFF4C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A59EB-D3C2-1FDB-2406-29AAFD21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Regelung durch Eingangs-Ausgangs-Linearisierung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4B5FD1-454A-C8BC-F214-168C74E44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49" y="1220880"/>
            <a:ext cx="10756899" cy="4690468"/>
          </a:xfrm>
        </p:spPr>
        <p:txBody>
          <a:bodyPr anchor="t"/>
          <a:lstStyle/>
          <a:p>
            <a:pPr algn="ctr">
              <a:spcAft>
                <a:spcPts val="1800"/>
              </a:spcAft>
              <a:buNone/>
            </a:pPr>
            <a:r>
              <a:rPr lang="de-DE" sz="2400" dirty="0"/>
              <a:t>Regelung von I</a:t>
            </a:r>
            <a:r>
              <a:rPr lang="de-DE" sz="2400" baseline="-25000" dirty="0"/>
              <a:t>L</a:t>
            </a:r>
            <a:r>
              <a:rPr lang="de-DE" sz="2400" dirty="0"/>
              <a:t> auf 10 mA</a:t>
            </a:r>
          </a:p>
          <a:p>
            <a:pPr algn="ctr">
              <a:spcAft>
                <a:spcPts val="1800"/>
              </a:spcAft>
              <a:buNone/>
            </a:pP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BE8D7A-EFB2-2970-4E3D-6FFDC168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Richter, Prof. Dr.-Ing. Jens Jäkel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7D29EE-6551-A9CB-5151-E84AEE48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17</a:t>
            </a:fld>
            <a:endParaRPr lang="de-DE"/>
          </a:p>
        </p:txBody>
      </p:sp>
      <p:pic>
        <p:nvPicPr>
          <p:cNvPr id="10" name="Grafik 9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4D403EF0-0EBF-E038-3EE9-2789B7160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11" y="1773024"/>
            <a:ext cx="790422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37345"/>
      </p:ext>
    </p:extLst>
  </p:cSld>
  <p:clrMapOvr>
    <a:masterClrMapping/>
  </p:clrMapOvr>
</p:sld>
</file>

<file path=ppt/theme/theme1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2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3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4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1005</Words>
  <Application>Microsoft Office PowerPoint</Application>
  <PresentationFormat>Breitbild</PresentationFormat>
  <Paragraphs>145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 Math</vt:lpstr>
      <vt:lpstr>Symbol</vt:lpstr>
      <vt:lpstr>Wingdings</vt:lpstr>
      <vt:lpstr>Work Sans</vt:lpstr>
      <vt:lpstr>HTWK Magenta</vt:lpstr>
      <vt:lpstr>HTWK Grün</vt:lpstr>
      <vt:lpstr>HTWK Cyan</vt:lpstr>
      <vt:lpstr>HTWK Blau</vt:lpstr>
      <vt:lpstr>PowerPoint-Präsentation</vt:lpstr>
      <vt:lpstr>GLIEDERUNG</vt:lpstr>
      <vt:lpstr>Modellbildung</vt:lpstr>
      <vt:lpstr>Gleichgewichtslage und Stabilität</vt:lpstr>
      <vt:lpstr>Gleichgewichtslage und Stabilität</vt:lpstr>
      <vt:lpstr>Gleichgewichtslage und Stabilität</vt:lpstr>
      <vt:lpstr>Gleichgewichtslage und Stabilität</vt:lpstr>
      <vt:lpstr>Gleichgewichtslage und Stabilität</vt:lpstr>
      <vt:lpstr>Gleichgewichtslage und Stabilität</vt:lpstr>
      <vt:lpstr>Lineare Zustandsrückführung</vt:lpstr>
      <vt:lpstr>Eingangs-Ausgangs-Linearisierung</vt:lpstr>
      <vt:lpstr>PowerPoint-Präsentation</vt:lpstr>
      <vt:lpstr>Simulink-Modell der Regelstrecke</vt:lpstr>
      <vt:lpstr>Simulink-Modell der Regelstrecke</vt:lpstr>
      <vt:lpstr>Regelung durch Zustandsrückführung</vt:lpstr>
      <vt:lpstr>Regelung durch Eingangs-Ausgangs-Linearisierung</vt:lpstr>
      <vt:lpstr>Regelung durch Eingangs-Ausgangs-Linearisierung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Richard Mende</cp:lastModifiedBy>
  <cp:revision>40</cp:revision>
  <dcterms:created xsi:type="dcterms:W3CDTF">2019-01-10T16:04:56Z</dcterms:created>
  <dcterms:modified xsi:type="dcterms:W3CDTF">2026-01-30T19:26:45Z</dcterms:modified>
</cp:coreProperties>
</file>