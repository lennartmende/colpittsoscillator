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78" r:id="rId2"/>
    <p:sldMasterId id="2147483688" r:id="rId3"/>
    <p:sldMasterId id="2147483693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3" r:id="rId10"/>
    <p:sldId id="270" r:id="rId11"/>
    <p:sldId id="265" r:id="rId12"/>
    <p:sldId id="271" r:id="rId13"/>
    <p:sldId id="272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20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88" y="96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13.12.2025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13.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13.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13.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13.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13.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Lennart und Richard Mende, 25EIM-AT, E144 Regelungstheorie, Prof. Dr.-Ing. Hendrik Richter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9419C16-12A8-1707-A702-12225E4BF9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13.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buFont typeface="+mj-lt"/>
              <a:buNone/>
              <a:defRPr sz="32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 anchor="ctr"/>
          <a:lstStyle>
            <a:lvl1pPr>
              <a:buFont typeface="Wingdings" panose="05000000000000000000" pitchFamily="2" charset="2"/>
              <a:buChar char="§"/>
              <a:defRPr sz="2000" b="0"/>
            </a:lvl1pPr>
            <a:lvl2pPr algn="l">
              <a:buFont typeface="Arial" panose="020B0604020202020204" pitchFamily="34" charset="0"/>
              <a:buNone/>
              <a:defRPr sz="2000"/>
            </a:lvl2pPr>
          </a:lstStyle>
          <a:p>
            <a:pPr lvl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Lennart und Richard Mende, 25EIM-AT, E144 Regelungstheorie, Prof. Dr.-Ing. Hendrik Richter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BFBAF385-7378-4A32-85D2-65025305A3A0}" type="datetime4">
              <a:rPr lang="de-DE" smtClean="0"/>
              <a:pPr/>
              <a:t>13.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fld id="{E4612975-D8C2-4BA9-A85C-A39EEEE43493}" type="datetime4">
              <a:rPr lang="de-DE" smtClean="0"/>
              <a:pPr/>
              <a:t>13. Dezember 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Titel Vorname Name, Bereich Fakultät, ggf. Institut/Professur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w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Lennart und Richard Mende, 25EIM-AT, E144 Regelungstheorie, Prof. Dr.-Ing. Hendrik Richter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 Vorname Name, Bereich Fakultät, ggf. Institut/Professur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8C343A5-AE4A-C666-49AA-8ABF68BE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AF385-7378-4A32-85D2-65025305A3A0}" type="datetime4">
              <a:rPr lang="de-DE" smtClean="0"/>
              <a:pPr/>
              <a:t>13. Dezember 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1BF7CF-55E7-1C6E-7110-DCCEEBA36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A2C9B32E-E0C2-F9E2-C85D-B19BC310EE1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r>
              <a:rPr lang="de-DE" sz="3200" b="1" dirty="0"/>
              <a:t>Zwischenpräsentation zum </a:t>
            </a:r>
            <a:r>
              <a:rPr lang="de-DE" sz="3200" b="1" dirty="0" err="1"/>
              <a:t>Colpitts</a:t>
            </a:r>
            <a:r>
              <a:rPr lang="de-DE" sz="3200" b="1" dirty="0"/>
              <a:t> Oszillator</a:t>
            </a:r>
          </a:p>
          <a:p>
            <a:endParaRPr lang="de-DE" sz="3200" b="1" dirty="0"/>
          </a:p>
          <a:p>
            <a:r>
              <a:rPr lang="de-DE" sz="2400" b="1" dirty="0"/>
              <a:t>Lennart und Richard Mende (25EIM-AT)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A2F1A4E-7EDC-8DE7-B9FC-6B766F53EE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B64F9DA-1859-2B05-E799-04C00EB176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4562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D81A61-5393-CF57-706E-A8EE9BD0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A35BA1-C7DE-7110-7589-0661DC128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de-DE" sz="2800" dirty="0"/>
              <a:t>Modellbildung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de-DE" sz="2800" dirty="0"/>
              <a:t>Gleichgewichtslage und Stabilität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de-DE" sz="2800" dirty="0"/>
              <a:t>Simulink-Modell der Regelstrecke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de-DE" sz="2800" dirty="0"/>
              <a:t>Ausblick</a:t>
            </a:r>
          </a:p>
          <a:p>
            <a:pPr>
              <a:spcAft>
                <a:spcPts val="1200"/>
              </a:spcAft>
              <a:buNone/>
            </a:pPr>
            <a:endParaRPr lang="de-DE" sz="2800" dirty="0"/>
          </a:p>
          <a:p>
            <a:pPr>
              <a:spcAft>
                <a:spcPts val="1200"/>
              </a:spcAft>
              <a:buNone/>
            </a:pPr>
            <a:endParaRPr lang="de-DE" sz="28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B4CF33-8ED0-8B76-072A-5B9B6FCDD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1A39CC2-5A79-029B-DF10-E7AACA0D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8348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40BB80-87F3-625C-83FC-EE2762CC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Modellbildung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8A03A2-859E-ECF7-C818-539578DB3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553" y="1614144"/>
            <a:ext cx="2940048" cy="4521544"/>
          </a:xfrm>
        </p:spPr>
        <p:txBody>
          <a:bodyPr anchor="t"/>
          <a:lstStyle/>
          <a:p>
            <a:pPr>
              <a:buNone/>
            </a:pPr>
            <a:r>
              <a:rPr lang="de-DE" dirty="0"/>
              <a:t>       Schaltkreis</a:t>
            </a:r>
          </a:p>
          <a:p>
            <a:pPr>
              <a:buNone/>
            </a:pPr>
            <a:endParaRPr lang="de-DE" dirty="0"/>
          </a:p>
          <a:p>
            <a:pPr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2980A8-2924-C57B-ACC5-10DEB663D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Lennart und Richard Mende, 25EIM-AT, E144 Regelungstheorie, Prof. Dr.-Ing. Hendrik Richter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D83348-956B-DE80-23C8-8F9A2380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3</a:t>
            </a:fld>
            <a:endParaRPr lang="de-DE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E7EAAB5-621E-05A4-1E39-B14E37F74137}"/>
              </a:ext>
            </a:extLst>
          </p:cNvPr>
          <p:cNvGrpSpPr/>
          <p:nvPr/>
        </p:nvGrpSpPr>
        <p:grpSpPr>
          <a:xfrm>
            <a:off x="717549" y="2045720"/>
            <a:ext cx="3127106" cy="3658391"/>
            <a:chOff x="850534" y="1735299"/>
            <a:chExt cx="2535978" cy="2989101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4FF90002-1F6A-4C0C-2F84-A4756DF40782}"/>
                </a:ext>
              </a:extLst>
            </p:cNvPr>
            <p:cNvGrpSpPr/>
            <p:nvPr/>
          </p:nvGrpSpPr>
          <p:grpSpPr>
            <a:xfrm>
              <a:off x="850534" y="1735299"/>
              <a:ext cx="2535978" cy="2989101"/>
              <a:chOff x="850534" y="1735299"/>
              <a:chExt cx="2535978" cy="2989101"/>
            </a:xfrm>
          </p:grpSpPr>
          <p:grpSp>
            <p:nvGrpSpPr>
              <p:cNvPr id="15" name="Gruppieren 14">
                <a:extLst>
                  <a:ext uri="{FF2B5EF4-FFF2-40B4-BE49-F238E27FC236}">
                    <a16:creationId xmlns:a16="http://schemas.microsoft.com/office/drawing/2014/main" id="{53DFB600-9843-EB9D-4F4E-63C50DDD9467}"/>
                  </a:ext>
                </a:extLst>
              </p:cNvPr>
              <p:cNvGrpSpPr/>
              <p:nvPr/>
            </p:nvGrpSpPr>
            <p:grpSpPr>
              <a:xfrm>
                <a:off x="850534" y="1735299"/>
                <a:ext cx="2535978" cy="2989101"/>
                <a:chOff x="850534" y="1735299"/>
                <a:chExt cx="2535978" cy="2989101"/>
              </a:xfrm>
            </p:grpSpPr>
            <p:grpSp>
              <p:nvGrpSpPr>
                <p:cNvPr id="11" name="Gruppieren 10">
                  <a:extLst>
                    <a:ext uri="{FF2B5EF4-FFF2-40B4-BE49-F238E27FC236}">
                      <a16:creationId xmlns:a16="http://schemas.microsoft.com/office/drawing/2014/main" id="{F672E919-354B-E703-C8C4-5744A95F462F}"/>
                    </a:ext>
                  </a:extLst>
                </p:cNvPr>
                <p:cNvGrpSpPr/>
                <p:nvPr/>
              </p:nvGrpSpPr>
              <p:grpSpPr>
                <a:xfrm>
                  <a:off x="850534" y="1735299"/>
                  <a:ext cx="2535978" cy="2989101"/>
                  <a:chOff x="850534" y="1735299"/>
                  <a:chExt cx="2535978" cy="2989101"/>
                </a:xfrm>
              </p:grpSpPr>
              <p:pic>
                <p:nvPicPr>
                  <p:cNvPr id="7" name="Grafik 6">
                    <a:extLst>
                      <a:ext uri="{FF2B5EF4-FFF2-40B4-BE49-F238E27FC236}">
                        <a16:creationId xmlns:a16="http://schemas.microsoft.com/office/drawing/2014/main" id="{41F009A2-01E7-E4F1-BC23-4369A9F993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rcRect b="33127"/>
                  <a:stretch>
                    <a:fillRect/>
                  </a:stretch>
                </p:blipFill>
                <p:spPr>
                  <a:xfrm>
                    <a:off x="850534" y="1735299"/>
                    <a:ext cx="2535978" cy="2989101"/>
                  </a:xfrm>
                  <a:prstGeom prst="rect">
                    <a:avLst/>
                  </a:prstGeom>
                </p:spPr>
              </p:pic>
              <p:sp>
                <p:nvSpPr>
                  <p:cNvPr id="9" name="Rechteck 8">
                    <a:extLst>
                      <a:ext uri="{FF2B5EF4-FFF2-40B4-BE49-F238E27FC236}">
                        <a16:creationId xmlns:a16="http://schemas.microsoft.com/office/drawing/2014/main" id="{43B51AB4-2618-2486-E717-F6A5972A127F}"/>
                      </a:ext>
                    </a:extLst>
                  </p:cNvPr>
                  <p:cNvSpPr/>
                  <p:nvPr/>
                </p:nvSpPr>
                <p:spPr>
                  <a:xfrm>
                    <a:off x="1724025" y="1831181"/>
                    <a:ext cx="183356" cy="15478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10" name="Rechteck 9">
                    <a:extLst>
                      <a:ext uri="{FF2B5EF4-FFF2-40B4-BE49-F238E27FC236}">
                        <a16:creationId xmlns:a16="http://schemas.microsoft.com/office/drawing/2014/main" id="{5D37E85B-D9D3-8087-0F8D-4CAF57F69B53}"/>
                      </a:ext>
                    </a:extLst>
                  </p:cNvPr>
                  <p:cNvSpPr/>
                  <p:nvPr/>
                </p:nvSpPr>
                <p:spPr>
                  <a:xfrm>
                    <a:off x="1644253" y="1831181"/>
                    <a:ext cx="342900" cy="19288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de-DE" sz="1300" b="1" dirty="0">
                        <a:solidFill>
                          <a:schemeClr val="tx1"/>
                        </a:solidFill>
                      </a:rPr>
                      <a:t>U</a:t>
                    </a:r>
                    <a:r>
                      <a:rPr lang="de-DE" sz="1300" b="1" baseline="-25000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</p:grpSp>
            <p:sp>
              <p:nvSpPr>
                <p:cNvPr id="13" name="Rechteck 12">
                  <a:extLst>
                    <a:ext uri="{FF2B5EF4-FFF2-40B4-BE49-F238E27FC236}">
                      <a16:creationId xmlns:a16="http://schemas.microsoft.com/office/drawing/2014/main" id="{0EE88D9F-9A61-7F3E-FBBE-D15E75D17797}"/>
                    </a:ext>
                  </a:extLst>
                </p:cNvPr>
                <p:cNvSpPr/>
                <p:nvPr/>
              </p:nvSpPr>
              <p:spPr>
                <a:xfrm>
                  <a:off x="2730499" y="3274217"/>
                  <a:ext cx="212725" cy="189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4" name="Rechteck 13">
                  <a:extLst>
                    <a:ext uri="{FF2B5EF4-FFF2-40B4-BE49-F238E27FC236}">
                      <a16:creationId xmlns:a16="http://schemas.microsoft.com/office/drawing/2014/main" id="{8AA23B95-19B3-8315-2070-F07F47F4BB45}"/>
                    </a:ext>
                  </a:extLst>
                </p:cNvPr>
                <p:cNvSpPr/>
                <p:nvPr/>
              </p:nvSpPr>
              <p:spPr>
                <a:xfrm>
                  <a:off x="2730499" y="4001292"/>
                  <a:ext cx="212725" cy="18970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1CEF9601-B93E-DB7A-4B78-0846A8EE45CA}"/>
                  </a:ext>
                </a:extLst>
              </p:cNvPr>
              <p:cNvSpPr/>
              <p:nvPr/>
            </p:nvSpPr>
            <p:spPr>
              <a:xfrm>
                <a:off x="2565401" y="3642517"/>
                <a:ext cx="768350" cy="189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313A2DE5-A014-E9A6-DEB3-D245B6A86793}"/>
                </a:ext>
              </a:extLst>
            </p:cNvPr>
            <p:cNvSpPr/>
            <p:nvPr/>
          </p:nvSpPr>
          <p:spPr>
            <a:xfrm>
              <a:off x="2634852" y="3259956"/>
              <a:ext cx="342900" cy="1928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300" b="1" dirty="0">
                  <a:solidFill>
                    <a:schemeClr val="tx1"/>
                  </a:solidFill>
                </a:rPr>
                <a:t>U</a:t>
              </a:r>
              <a:r>
                <a:rPr lang="de-DE" sz="1300" b="1" baseline="-250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2AD17927-357E-7A73-8D70-487792556E0C}"/>
                </a:ext>
              </a:extLst>
            </p:cNvPr>
            <p:cNvSpPr/>
            <p:nvPr/>
          </p:nvSpPr>
          <p:spPr>
            <a:xfrm>
              <a:off x="2634852" y="3988989"/>
              <a:ext cx="342900" cy="1928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300" b="1" dirty="0">
                  <a:solidFill>
                    <a:schemeClr val="tx1"/>
                  </a:solidFill>
                </a:rPr>
                <a:t>U</a:t>
              </a:r>
              <a:r>
                <a:rPr lang="de-DE" sz="1300" b="1" baseline="-250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Inhaltsplatzhalter 2">
                <a:extLst>
                  <a:ext uri="{FF2B5EF4-FFF2-40B4-BE49-F238E27FC236}">
                    <a16:creationId xmlns:a16="http://schemas.microsoft.com/office/drawing/2014/main" id="{4D3EDCD6-0E16-BAA8-33E6-68DBF39A27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95851" y="1614144"/>
                <a:ext cx="4012979" cy="4521544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r>
                  <a:rPr lang="de-DE" dirty="0"/>
                  <a:t>     Zustandsraummodell</a:t>
                </a:r>
              </a:p>
              <a:p>
                <a:pPr>
                  <a:buFont typeface="Wingdings" panose="05000000000000000000" pitchFamily="2" charset="2"/>
                  <a:buNone/>
                </a:pPr>
                <a:endParaRPr lang="de-DE" dirty="0"/>
              </a:p>
              <a:p>
                <a:pPr>
                  <a:spcAft>
                    <a:spcPts val="1800"/>
                  </a:spcAft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de-DE" b="0" dirty="0"/>
              </a:p>
              <a:p>
                <a:pPr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>
                  <a:buFont typeface="Wingdings" panose="05000000000000000000" pitchFamily="2" charset="2"/>
                  <a:buNone/>
                </a:pPr>
                <a:endParaRPr lang="de-DE" dirty="0"/>
              </a:p>
              <a:p>
                <a:pPr>
                  <a:buFont typeface="Wingdings" panose="05000000000000000000" pitchFamily="2" charset="2"/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3" name="Inhaltsplatzhalter 2">
                <a:extLst>
                  <a:ext uri="{FF2B5EF4-FFF2-40B4-BE49-F238E27FC236}">
                    <a16:creationId xmlns:a16="http://schemas.microsoft.com/office/drawing/2014/main" id="{4D3EDCD6-0E16-BAA8-33E6-68DBF39A2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851" y="1614144"/>
                <a:ext cx="4012979" cy="4521544"/>
              </a:xfrm>
              <a:prstGeom prst="rect">
                <a:avLst/>
              </a:prstGeom>
              <a:blipFill>
                <a:blip r:embed="rId3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feld 23">
            <a:extLst>
              <a:ext uri="{FF2B5EF4-FFF2-40B4-BE49-F238E27FC236}">
                <a16:creationId xmlns:a16="http://schemas.microsoft.com/office/drawing/2014/main" id="{C258D011-FEF6-9DEA-476B-892A3EB9B027}"/>
              </a:ext>
            </a:extLst>
          </p:cNvPr>
          <p:cNvSpPr txBox="1"/>
          <p:nvPr/>
        </p:nvSpPr>
        <p:spPr>
          <a:xfrm>
            <a:off x="3844655" y="5458234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Quelle: G.M. Maggio et al., Nonlinear Analysis of the Colpitts Oscillator and Applications to Design, IEEE Trans. Circuits and Systems 46, 1118-1130, 1999</a:t>
            </a:r>
            <a:endParaRPr lang="de-DE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Inhaltsplatzhalter 2">
                <a:extLst>
                  <a:ext uri="{FF2B5EF4-FFF2-40B4-BE49-F238E27FC236}">
                    <a16:creationId xmlns:a16="http://schemas.microsoft.com/office/drawing/2014/main" id="{66174865-88D6-586B-DF28-0C22A9D467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34401" y="1614143"/>
                <a:ext cx="1862951" cy="4521544"/>
              </a:xfrm>
              <a:prstGeom prst="rect">
                <a:avLst/>
              </a:prstGeom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  <a:buFont typeface="Wingdings" panose="05000000000000000000" pitchFamily="2" charset="2"/>
                  <a:buNone/>
                </a:pPr>
                <a:r>
                  <a:rPr lang="de-DE" dirty="0"/>
                  <a:t>Parameterwerte</a:t>
                </a:r>
              </a:p>
              <a:p>
                <a:pPr>
                  <a:buFont typeface="Wingdings" panose="05000000000000000000" pitchFamily="2" charset="2"/>
                  <a:buNone/>
                </a:pPr>
                <a:endParaRPr lang="de-DE" dirty="0"/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𝑛𝐴</m:t>
                      </m:r>
                    </m:oMath>
                  </m:oMathPara>
                </a14:m>
                <a:endParaRPr lang="de-DE" dirty="0"/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26 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𝑚𝑉</m:t>
                      </m:r>
                    </m:oMath>
                  </m:oMathPara>
                </a14:m>
                <a:endParaRPr lang="de-DE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𝑛𝐹</m:t>
                      </m:r>
                    </m:oMath>
                  </m:oMathPara>
                </a14:m>
                <a:endParaRPr lang="de-DE" dirty="0"/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de-DE" b="0" i="1" smtClean="0">
                          <a:effectLst/>
                          <a:latin typeface="Cambria Math" panose="02040503050406030204" pitchFamily="18" charset="0"/>
                        </a:rPr>
                        <m:t>µ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de-DE" i="1" dirty="0"/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DE" dirty="0"/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𝑚𝐻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25" name="Inhaltsplatzhalter 2">
                <a:extLst>
                  <a:ext uri="{FF2B5EF4-FFF2-40B4-BE49-F238E27FC236}">
                    <a16:creationId xmlns:a16="http://schemas.microsoft.com/office/drawing/2014/main" id="{66174865-88D6-586B-DF28-0C22A9D46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01" y="1614143"/>
                <a:ext cx="1862951" cy="4521544"/>
              </a:xfrm>
              <a:prstGeom prst="rect">
                <a:avLst/>
              </a:prstGeom>
              <a:blipFill>
                <a:blip r:embed="rId4"/>
                <a:stretch>
                  <a:fillRect l="-8170" t="-1752" r="-52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600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3" grpId="0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61EA91-CB12-2752-12FE-671CD718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Gleichgewichtslage und Stabilität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008C0D-2FB4-97CE-B921-231418BF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BCEA832-7AE2-CCA3-A69D-E5378C921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4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17257B7-11A3-DCDF-61BC-A1228F4C6A1F}"/>
                  </a:ext>
                </a:extLst>
              </p:cNvPr>
              <p:cNvSpPr txBox="1"/>
              <p:nvPr/>
            </p:nvSpPr>
            <p:spPr>
              <a:xfrm>
                <a:off x="962678" y="1581315"/>
                <a:ext cx="9129723" cy="1847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de-DE" sz="2400" b="1" dirty="0"/>
                  <a:t>Gleichgewichtslage</a:t>
                </a:r>
                <a:endParaRPr lang="de-DE" sz="2400" b="0" i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  <m:t>𝑈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̇"/>
                                            <m:ctrlPr>
                                              <a:rPr lang="de-DE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2400" dirty="0"/>
                  <a:t>   →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de-DE" sz="24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  <m:t>𝑈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+0.0257</m:t>
                              </m:r>
                              <m:func>
                                <m:funcPr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240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10</m:t>
                                          </m:r>
                                        </m:e>
                                        <m:sup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de-DE" sz="2400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de-DE" sz="2400" i="1">
                                        <a:latin typeface="Cambria Math" panose="02040503050406030204" pitchFamily="18" charset="0"/>
                                      </a:rPr>
                                      <m:t>−0.0257</m:t>
                                    </m:r>
                                    <m:func>
                                      <m:func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de-DE" sz="2400">
                                            <a:latin typeface="Cambria Math" panose="02040503050406030204" pitchFamily="18" charset="0"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  <m:t>10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  <m:t>8</m:t>
                                                </m:r>
                                              </m:sup>
                                            </m:sSup>
                                            <m:sSub>
                                              <m:sSubPr>
                                                <m:ctrlP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de-DE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de-DE" sz="24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𝐼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de-DE" sz="2400" i="1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de-DE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de-DE" sz="2400" i="1"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de-DE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de-DE" sz="2400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17257B7-11A3-DCDF-61BC-A1228F4C6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678" y="1581315"/>
                <a:ext cx="9129723" cy="1847685"/>
              </a:xfrm>
              <a:prstGeom prst="rect">
                <a:avLst/>
              </a:prstGeom>
              <a:blipFill>
                <a:blip r:embed="rId2"/>
                <a:stretch>
                  <a:fillRect t="-23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2D03D31-76A2-6A5C-2351-637D033C3C41}"/>
              </a:ext>
            </a:extLst>
          </p:cNvPr>
          <p:cNvGrpSpPr/>
          <p:nvPr/>
        </p:nvGrpSpPr>
        <p:grpSpPr>
          <a:xfrm>
            <a:off x="2351951" y="3775678"/>
            <a:ext cx="6783423" cy="2626360"/>
            <a:chOff x="879895" y="3467428"/>
            <a:chExt cx="6081622" cy="26263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E4FE315E-6C09-A39C-8369-183CADC17853}"/>
                    </a:ext>
                  </a:extLst>
                </p:cNvPr>
                <p:cNvSpPr txBox="1"/>
                <p:nvPr/>
              </p:nvSpPr>
              <p:spPr>
                <a:xfrm>
                  <a:off x="879895" y="3467428"/>
                  <a:ext cx="6081622" cy="26263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1200"/>
                    </a:spcAft>
                  </a:pPr>
                  <a:r>
                    <a:rPr lang="de-DE" sz="2400" b="1" dirty="0"/>
                    <a:t>Jacobi-Matrix am Arbeitspunkt</a:t>
                  </a:r>
                  <a:endParaRPr lang="de-DE" sz="24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"/>
                            <m:endChr m:val="|"/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de-DE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de-DE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           =</m:t>
                        </m:r>
                        <m:d>
                          <m:dPr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de-DE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3.85</m:t>
                                  </m:r>
                                  <m:r>
                                    <a:rPr lang="de-DE" sz="2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de-DE" sz="2400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sSup>
                                    <m:sSupPr>
                                      <m:ctrlP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p>
                                </m:e>
                              </m:mr>
                              <m:mr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−10</m:t>
                                  </m:r>
                                </m:e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−10</m:t>
                                  </m:r>
                                </m:e>
                                <m:e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de-DE" sz="2400" i="1" dirty="0"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E4FE315E-6C09-A39C-8369-183CADC178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895" y="3467428"/>
                  <a:ext cx="6081622" cy="2626360"/>
                </a:xfrm>
                <a:prstGeom prst="rect">
                  <a:avLst/>
                </a:prstGeom>
                <a:blipFill>
                  <a:blip r:embed="rId3"/>
                  <a:stretch>
                    <a:fillRect t="-1624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768BFB70-37A2-BCF6-9CAE-DCBE0A85B102}"/>
                    </a:ext>
                  </a:extLst>
                </p:cNvPr>
                <p:cNvSpPr txBox="1"/>
                <p:nvPr/>
              </p:nvSpPr>
              <p:spPr>
                <a:xfrm>
                  <a:off x="1864563" y="4737602"/>
                  <a:ext cx="144923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de-DE" sz="2400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768BFB70-37A2-BCF6-9CAE-DCBE0A85B1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4563" y="4737602"/>
                  <a:ext cx="1449237" cy="461665"/>
                </a:xfrm>
                <a:prstGeom prst="rect">
                  <a:avLst/>
                </a:prstGeom>
                <a:blipFill>
                  <a:blip r:embed="rId4"/>
                  <a:stretch>
                    <a:fillRect r="-113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5750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B460FB-F756-D63B-C6D5-BC968B4E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Gleichgewichtslage und Stabilität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D26419-66A2-DA5E-0DC7-DD56C74B3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64AF92-4B58-BDFB-2435-F27A2CDB8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5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2EE3EAB-FCDD-1903-E5E8-82A158EAC4B1}"/>
                  </a:ext>
                </a:extLst>
              </p:cNvPr>
              <p:cNvSpPr txBox="1"/>
              <p:nvPr/>
            </p:nvSpPr>
            <p:spPr>
              <a:xfrm>
                <a:off x="899794" y="3653196"/>
                <a:ext cx="10659602" cy="2231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acc>
                          <m:accPr>
                            <m:chr m:val="̅"/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𝑘𝑟𝑖𝑡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de-D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𝑒𝑖𝑔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1,2,3</m:t>
                        </m:r>
                      </m:sub>
                    </m:sSub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(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))&lt;0</m:t>
                    </m:r>
                  </m:oMath>
                </a14:m>
                <a:r>
                  <a:rPr lang="de-DE" sz="2400" i="1" dirty="0"/>
                  <a:t> → </a:t>
                </a:r>
                <a:r>
                  <a:rPr lang="de-DE" sz="2400" b="1" dirty="0"/>
                  <a:t>lokale Stabilität</a:t>
                </a:r>
              </a:p>
              <a:p>
                <a:pPr>
                  <a:spcAft>
                    <a:spcPts val="30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𝑘𝑟𝑖𝑡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𝑒𝑖𝑔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))&lt; 0 </m:t>
                    </m:r>
                    <m:r>
                      <m:rPr>
                        <m:sty m:val="p"/>
                      </m:rPr>
                      <a:rPr lang="de-DE" sz="2400" b="0" i="1" smtClean="0">
                        <a:latin typeface="Cambria Math" panose="02040503050406030204" pitchFamily="18" charset="0"/>
                      </a:rPr>
                      <m:t>und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𝑒𝑖𝑔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2,3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))&gt;0</m:t>
                    </m:r>
                  </m:oMath>
                </a14:m>
                <a:r>
                  <a:rPr lang="de-DE" sz="2400" i="1" dirty="0"/>
                  <a:t> → </a:t>
                </a:r>
                <a:r>
                  <a:rPr lang="de-DE" sz="2400" b="1" dirty="0"/>
                  <a:t>keine lokale Stabilität</a:t>
                </a:r>
              </a:p>
              <a:p>
                <a:pPr algn="ctr">
                  <a:spcAft>
                    <a:spcPts val="1800"/>
                  </a:spcAft>
                </a:pPr>
                <a:r>
                  <a:rPr lang="de-DE" sz="2400" b="1" dirty="0"/>
                  <a:t>Bifurkation (Phänomen nichtlinearer Systeme)</a:t>
                </a:r>
              </a:p>
            </p:txBody>
          </p:sp>
        </mc:Choice>
        <mc:Fallback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2EE3EAB-FCDD-1903-E5E8-82A158EAC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94" y="3653196"/>
                <a:ext cx="10659602" cy="2231380"/>
              </a:xfrm>
              <a:prstGeom prst="rect">
                <a:avLst/>
              </a:prstGeom>
              <a:blipFill>
                <a:blip r:embed="rId2"/>
                <a:stretch>
                  <a:fillRect l="-172" t="-1913" r="-51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AE5E65BF-5078-75CC-55B4-83C348E178A6}"/>
                  </a:ext>
                </a:extLst>
              </p:cNvPr>
              <p:cNvSpPr txBox="1"/>
              <p:nvPr/>
            </p:nvSpPr>
            <p:spPr>
              <a:xfrm>
                <a:off x="2997760" y="2846266"/>
                <a:ext cx="2653561" cy="4847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𝑘𝑟𝑖𝑡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=2.83 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de-DE" sz="2400" i="1" dirty="0"/>
              </a:p>
            </p:txBody>
          </p:sp>
        </mc:Choice>
        <mc:Fallback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AE5E65BF-5078-75CC-55B4-83C348E17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760" y="2846266"/>
                <a:ext cx="2653561" cy="4847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AD9FA59-B122-1F24-3331-A79E05AB360C}"/>
                  </a:ext>
                </a:extLst>
              </p:cNvPr>
              <p:cNvSpPr txBox="1"/>
              <p:nvPr/>
            </p:nvSpPr>
            <p:spPr>
              <a:xfrm>
                <a:off x="717550" y="1555370"/>
                <a:ext cx="7401706" cy="1001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de-DE" sz="2400" b="1" dirty="0"/>
                  <a:t>Aussagen zur lokalen Stabilität</a:t>
                </a:r>
                <a:endParaRPr lang="de-DE" sz="2400" dirty="0"/>
              </a:p>
              <a:p>
                <a:pPr algn="ctr"/>
                <a:r>
                  <a:rPr lang="de-DE" sz="2400" dirty="0"/>
                  <a:t>lokale Stabilität, falls gilt: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𝑅𝑒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𝑒𝑖𝑔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1,2,3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))&lt; 0</m:t>
                    </m:r>
                  </m:oMath>
                </a14:m>
                <a:endParaRPr lang="de-DE" sz="2400" i="1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AD9FA59-B122-1F24-3331-A79E05AB3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50" y="1555370"/>
                <a:ext cx="7401706" cy="1001108"/>
              </a:xfrm>
              <a:prstGeom prst="rect">
                <a:avLst/>
              </a:prstGeom>
              <a:blipFill>
                <a:blip r:embed="rId4"/>
                <a:stretch>
                  <a:fillRect t="-4268" b="-115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540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57D46-1321-04DA-04FD-373CFB3C7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E180B-0916-6A70-C00A-48FF63A1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Simulink-Modell der Regelstrecke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D77632-6247-D138-A25B-3877C373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2B37F7-0FC6-23A9-D7D6-CD6FE191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6</a:t>
            </a:fld>
            <a:endParaRPr lang="de-DE"/>
          </a:p>
        </p:txBody>
      </p:sp>
      <p:pic>
        <p:nvPicPr>
          <p:cNvPr id="6" name="Grafik 5" descr="Ein Bild, das Diagramm, Reihe, technische Zeichnung, Entwurf enthält.&#10;&#10;KI-generierte Inhalte können fehlerhaft sein.">
            <a:extLst>
              <a:ext uri="{FF2B5EF4-FFF2-40B4-BE49-F238E27FC236}">
                <a16:creationId xmlns:a16="http://schemas.microsoft.com/office/drawing/2014/main" id="{0C7B2146-CE2F-DB2F-D296-C712A84E7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154"/>
          <a:stretch>
            <a:fillRect/>
          </a:stretch>
        </p:blipFill>
        <p:spPr>
          <a:xfrm>
            <a:off x="1674531" y="1518375"/>
            <a:ext cx="5795944" cy="408288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296C4FDF-BB70-806E-5FAE-3966DCF20AED}"/>
                  </a:ext>
                </a:extLst>
              </p:cNvPr>
              <p:cNvSpPr txBox="1"/>
              <p:nvPr/>
            </p:nvSpPr>
            <p:spPr>
              <a:xfrm>
                <a:off x="6165542" y="2296258"/>
                <a:ext cx="1304933" cy="6950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de-D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num>
                        <m:den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den>
                      </m:f>
                      <m:r>
                        <a:rPr lang="de-D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000" b="1" i="1" smtClean="0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de-DE" sz="2000" b="1" i="1" dirty="0"/>
              </a:p>
            </p:txBody>
          </p:sp>
        </mc:Choice>
        <mc:Fallback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296C4FDF-BB70-806E-5FAE-3966DCF20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542" y="2296258"/>
                <a:ext cx="1304933" cy="6950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26D6102-09AB-51EC-A6C3-E5111AEB9DCC}"/>
                  </a:ext>
                </a:extLst>
              </p:cNvPr>
              <p:cNvSpPr txBox="1"/>
              <p:nvPr/>
            </p:nvSpPr>
            <p:spPr>
              <a:xfrm>
                <a:off x="8116322" y="1883164"/>
                <a:ext cx="2140486" cy="1521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/>
                  <a:t>Boltzmann-Konstante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= 1.4 ⋅</m:t>
                      </m:r>
                      <m:sSup>
                        <m:sSup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-23</m:t>
                          </m:r>
                        </m:sup>
                      </m:sSup>
                      <m:f>
                        <m:f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den>
                      </m:f>
                    </m:oMath>
                  </m:oMathPara>
                </a14:m>
                <a:endParaRPr lang="de-DE" sz="1600" i="1" dirty="0"/>
              </a:p>
              <a:p>
                <a:pPr>
                  <a:spcAft>
                    <a:spcPts val="600"/>
                  </a:spcAft>
                </a:pPr>
                <a:r>
                  <a:rPr lang="de-DE" sz="1600" dirty="0"/>
                  <a:t>Elementarladung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= 1.6 ⋅</m:t>
                      </m:r>
                      <m:sSup>
                        <m:sSup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-19</m:t>
                          </m:r>
                        </m:sup>
                      </m:sSup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de-DE" sz="1600" i="1" dirty="0"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C26D6102-09AB-51EC-A6C3-E5111AEB9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322" y="1883164"/>
                <a:ext cx="2140486" cy="1521250"/>
              </a:xfrm>
              <a:prstGeom prst="rect">
                <a:avLst/>
              </a:prstGeom>
              <a:blipFill>
                <a:blip r:embed="rId4"/>
                <a:stretch>
                  <a:fillRect l="-1420" t="-12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F3C2D876-B4CE-5883-198D-C737458BE98D}"/>
              </a:ext>
            </a:extLst>
          </p:cNvPr>
          <p:cNvSpPr txBox="1"/>
          <p:nvPr/>
        </p:nvSpPr>
        <p:spPr>
          <a:xfrm>
            <a:off x="1207806" y="3487027"/>
            <a:ext cx="182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Temperatur in °C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8BC7C63-35E2-5B84-54C1-6714E9B1DA5E}"/>
              </a:ext>
            </a:extLst>
          </p:cNvPr>
          <p:cNvSpPr txBox="1"/>
          <p:nvPr/>
        </p:nvSpPr>
        <p:spPr>
          <a:xfrm>
            <a:off x="2900469" y="5564627"/>
            <a:ext cx="182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273.15 K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0A5FAA3-0321-09F3-F9BF-B3411EA7554E}"/>
              </a:ext>
            </a:extLst>
          </p:cNvPr>
          <p:cNvSpPr txBox="1"/>
          <p:nvPr/>
        </p:nvSpPr>
        <p:spPr>
          <a:xfrm>
            <a:off x="5165805" y="4178778"/>
            <a:ext cx="1669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Temperatur in K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BB011E7-F87C-7160-4C92-11CE47ED5A34}"/>
              </a:ext>
            </a:extLst>
          </p:cNvPr>
          <p:cNvCxnSpPr>
            <a:cxnSpLocks/>
          </p:cNvCxnSpPr>
          <p:nvPr/>
        </p:nvCxnSpPr>
        <p:spPr>
          <a:xfrm flipH="1" flipV="1">
            <a:off x="5036344" y="3825581"/>
            <a:ext cx="333375" cy="393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674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2D75-E306-C14C-6334-59560B0E6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1ABE75-E4EC-CE35-4C8D-B2DE6D9DE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Simulink-Modell der Regelstrecke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922E56F-CE09-5816-19E1-3F09ACA5B7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89046" y="1440000"/>
                <a:ext cx="2434178" cy="371027"/>
              </a:xfrm>
              <a:ln>
                <a:solidFill>
                  <a:schemeClr val="tx1"/>
                </a:solidFill>
              </a:ln>
            </p:spPr>
            <p:txBody>
              <a:bodyPr anchor="t"/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𝒎𝑨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 &lt;</m:t>
                      </m:r>
                      <m:sSub>
                        <m:sSubPr>
                          <m:ctrlPr>
                            <a:rPr lang="de-D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𝒌𝒓𝒊𝒕</m:t>
                          </m:r>
                        </m:sub>
                      </m:sSub>
                    </m:oMath>
                  </m:oMathPara>
                </a14:m>
                <a:endParaRPr lang="de-DE" b="1" i="1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922E56F-CE09-5816-19E1-3F09ACA5B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89046" y="1440000"/>
                <a:ext cx="2434178" cy="371027"/>
              </a:xfrm>
              <a:blipFill>
                <a:blip r:embed="rId2"/>
                <a:stretch>
                  <a:fillRect b="-31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D05384-6EAE-5361-BCDC-D7F569BDC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7125011-2157-3E29-395D-8EBA4FF1E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7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FA4B607-9620-2901-CF17-ACF7484C8082}"/>
                  </a:ext>
                </a:extLst>
              </p:cNvPr>
              <p:cNvSpPr txBox="1"/>
              <p:nvPr/>
            </p:nvSpPr>
            <p:spPr>
              <a:xfrm>
                <a:off x="9189046" y="2218936"/>
                <a:ext cx="1641418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.31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sz="2000" i="1" dirty="0"/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FA4B607-9620-2901-CF17-ACF7484C8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046" y="2218936"/>
                <a:ext cx="164141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6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576F2273-189C-6793-FB5A-B4378A792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88" y="1264066"/>
            <a:ext cx="8678383" cy="477631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F735AF9A-8B82-543A-4066-421ABE977C8C}"/>
                  </a:ext>
                </a:extLst>
              </p:cNvPr>
              <p:cNvSpPr txBox="1"/>
              <p:nvPr/>
            </p:nvSpPr>
            <p:spPr>
              <a:xfrm>
                <a:off x="9189046" y="5006841"/>
                <a:ext cx="1719056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e-DE" sz="20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.31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de-DE" sz="2000" i="1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F735AF9A-8B82-543A-4066-421ABE977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046" y="5006841"/>
                <a:ext cx="1719056" cy="400110"/>
              </a:xfrm>
              <a:prstGeom prst="rect">
                <a:avLst/>
              </a:prstGeom>
              <a:blipFill>
                <a:blip r:embed="rId5"/>
                <a:stretch>
                  <a:fillRect b="-14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21B7270B-1622-CDD1-DB6E-C1EC9722970F}"/>
                  </a:ext>
                </a:extLst>
              </p:cNvPr>
              <p:cNvSpPr txBox="1"/>
              <p:nvPr/>
            </p:nvSpPr>
            <p:spPr>
              <a:xfrm>
                <a:off x="9189046" y="4422064"/>
                <a:ext cx="1915600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de-DE" sz="2000" i="1" dirty="0"/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21B7270B-1622-CDD1-DB6E-C1EC97229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046" y="4422064"/>
                <a:ext cx="1915600" cy="400110"/>
              </a:xfrm>
              <a:prstGeom prst="rect">
                <a:avLst/>
              </a:prstGeom>
              <a:blipFill>
                <a:blip r:embed="rId6"/>
                <a:stretch>
                  <a:fillRect b="-14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541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D054F-5114-7560-A8EB-31721C460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986A89-3942-E98D-D6A9-AA7443CC7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Simulink-Modell der Regelstrecke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CA0057-9436-9A4E-F45B-59116793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45B8F3-E7F9-3614-78D9-94308EEFC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8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Inhaltsplatzhalter 2">
                <a:extLst>
                  <a:ext uri="{FF2B5EF4-FFF2-40B4-BE49-F238E27FC236}">
                    <a16:creationId xmlns:a16="http://schemas.microsoft.com/office/drawing/2014/main" id="{EEBF649D-A9C8-3731-CCFF-A47C586DCB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48000" y="1440000"/>
                <a:ext cx="1380939" cy="390271"/>
              </a:xfrm>
              <a:ln>
                <a:solidFill>
                  <a:schemeClr val="tx1"/>
                </a:solidFill>
              </a:ln>
            </p:spPr>
            <p:txBody>
              <a:bodyPr anchor="t"/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de-D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𝒌𝒓𝒊𝒕</m:t>
                          </m:r>
                        </m:sub>
                      </m:sSub>
                    </m:oMath>
                  </m:oMathPara>
                </a14:m>
                <a:endParaRPr lang="de-DE" b="1" i="1" dirty="0"/>
              </a:p>
            </p:txBody>
          </p:sp>
        </mc:Choice>
        <mc:Fallback>
          <p:sp>
            <p:nvSpPr>
              <p:cNvPr id="9" name="Inhaltsplatzhalter 2">
                <a:extLst>
                  <a:ext uri="{FF2B5EF4-FFF2-40B4-BE49-F238E27FC236}">
                    <a16:creationId xmlns:a16="http://schemas.microsoft.com/office/drawing/2014/main" id="{EEBF649D-A9C8-3731-CCFF-A47C586DCB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48000" y="1440000"/>
                <a:ext cx="1380939" cy="390271"/>
              </a:xfr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rafik 13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FA93D682-3859-E82D-0288-BA72D9BC4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1263600"/>
            <a:ext cx="8558446" cy="477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34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BF3A1-64D9-A6A8-D4D5-92D5DAA39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B657E6-92E1-33B5-B3A9-49778F45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Simulink-Modell der Regelstrecke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B9D42B-1B02-03EF-37AD-F1D541BE0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8F0CAAE-B75F-83C3-7683-1B1469820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9</a:t>
            </a:fld>
            <a:endParaRPr lang="de-DE"/>
          </a:p>
        </p:txBody>
      </p:sp>
      <p:pic>
        <p:nvPicPr>
          <p:cNvPr id="6" name="Grafik 5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1E594C55-35E8-D9BC-81E1-2A9D8037D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1263600"/>
            <a:ext cx="8595584" cy="4777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9696C592-E55E-09B3-A3DC-B4139D8A0F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48000" y="1440000"/>
                <a:ext cx="1380939" cy="39027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de-D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𝒌𝒓𝒊𝒕</m:t>
                          </m:r>
                        </m:sub>
                      </m:sSub>
                    </m:oMath>
                  </m:oMathPara>
                </a14:m>
                <a:endParaRPr lang="de-DE" b="1" i="1" dirty="0"/>
              </a:p>
            </p:txBody>
          </p:sp>
        </mc:Choice>
        <mc:Fallback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9696C592-E55E-09B3-A3DC-B4139D8A0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8000" y="1440000"/>
                <a:ext cx="1380939" cy="3902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874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344E4-5159-8480-866E-6599BFDF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39E17A-8A38-80E9-CDF8-4E246A62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Simulink-Modell der Regelstrecke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9709DC-AE1C-FD89-9CB6-395499FFD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4A844A-6783-1069-A166-0F0DBAF2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10</a:t>
            </a:fld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65182C3E-2122-0B9C-63DA-2916BD170E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48000" y="1440000"/>
                <a:ext cx="1380939" cy="39027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lIns="0" tIns="0" rIns="0" bIns="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Wingdings" panose="05000000000000000000" pitchFamily="2" charset="2"/>
                  <a:buChar char="§"/>
                  <a:defRPr sz="2000" b="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0" indent="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36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180000" algn="l" defTabSz="914400" rtl="0" eaLnBrk="1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425"/>
                  </a:spcAft>
                  <a:buFont typeface="Work Sans" panose="00000500000000000000" pitchFamily="2" charset="0"/>
                  <a:buChar char="–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de-D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acc>
                        </m:e>
                        <m:sub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b="1" i="1">
                              <a:latin typeface="Cambria Math" panose="02040503050406030204" pitchFamily="18" charset="0"/>
                            </a:rPr>
                            <m:t>𝒌𝒓𝒊𝒕</m:t>
                          </m:r>
                        </m:sub>
                      </m:sSub>
                    </m:oMath>
                  </m:oMathPara>
                </a14:m>
                <a:endParaRPr lang="de-DE" b="1" i="1" dirty="0"/>
              </a:p>
            </p:txBody>
          </p:sp>
        </mc:Choice>
        <mc:Fallback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65182C3E-2122-0B9C-63DA-2916BD170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8000" y="1440000"/>
                <a:ext cx="1380939" cy="3902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6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0AB2943E-6878-37EB-43D0-C23C6CD20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1263600"/>
            <a:ext cx="8605712" cy="477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13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1EB03-263E-7C33-3417-B8D82B3CC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46EA00-9B2D-9112-7A63-3E46732BF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Ausblick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026CC1-EDA2-FD67-2D19-03256610B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1800"/>
              </a:spcAft>
            </a:pPr>
            <a:r>
              <a:rPr lang="de-DE" sz="2400" dirty="0"/>
              <a:t>Reglerentwurf anhand zwei verschiedener nichtlinearer Regelungskonzepte</a:t>
            </a:r>
          </a:p>
          <a:p>
            <a:pPr marL="342900" indent="-342900">
              <a:spcAft>
                <a:spcPts val="1800"/>
              </a:spcAft>
            </a:pPr>
            <a:r>
              <a:rPr lang="de-DE" sz="2400" dirty="0"/>
              <a:t>Beurteilung des entstehenden dynamischen Verhaltens</a:t>
            </a:r>
          </a:p>
          <a:p>
            <a:pPr marL="342900" indent="-342900">
              <a:spcAft>
                <a:spcPts val="1800"/>
              </a:spcAft>
            </a:pPr>
            <a:endParaRPr lang="de-DE" sz="2400" dirty="0"/>
          </a:p>
          <a:p>
            <a:pPr>
              <a:spcAft>
                <a:spcPts val="1800"/>
              </a:spcAft>
              <a:buNone/>
            </a:pPr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9583D8-4C4E-EAA9-8303-5013908D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Lennart und Richard Mende, 25EIM-AT, E144 Regelungstheorie, Prof. Dr.-Ing. Hendrik Richter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CD4AC4-4BB1-2D50-4A36-18E2B5BDD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8484416"/>
      </p:ext>
    </p:extLst>
  </p:cSld>
  <p:clrMapOvr>
    <a:masterClrMapping/>
  </p:clrMapOvr>
</p:sld>
</file>

<file path=ppt/theme/theme1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2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3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4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486</Words>
  <Application>Microsoft Office PowerPoint</Application>
  <PresentationFormat>Breitbild</PresentationFormat>
  <Paragraphs>85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4</vt:i4>
      </vt:variant>
      <vt:variant>
        <vt:lpstr>Folientitel</vt:lpstr>
      </vt:variant>
      <vt:variant>
        <vt:i4>11</vt:i4>
      </vt:variant>
    </vt:vector>
  </HeadingPairs>
  <TitlesOfParts>
    <vt:vector size="20" baseType="lpstr">
      <vt:lpstr>Arial</vt:lpstr>
      <vt:lpstr>Calibri</vt:lpstr>
      <vt:lpstr>Cambria Math</vt:lpstr>
      <vt:lpstr>Wingdings</vt:lpstr>
      <vt:lpstr>Work Sans</vt:lpstr>
      <vt:lpstr>HTWK Magenta</vt:lpstr>
      <vt:lpstr>HTWK Grün</vt:lpstr>
      <vt:lpstr>HTWK Cyan</vt:lpstr>
      <vt:lpstr>HTWK Blau</vt:lpstr>
      <vt:lpstr>PowerPoint-Präsentation</vt:lpstr>
      <vt:lpstr>GLIEDERUNG</vt:lpstr>
      <vt:lpstr>Modellbildung</vt:lpstr>
      <vt:lpstr>Gleichgewichtslage und Stabilität</vt:lpstr>
      <vt:lpstr>Gleichgewichtslage und Stabilität</vt:lpstr>
      <vt:lpstr>Simulink-Modell der Regelstrecke</vt:lpstr>
      <vt:lpstr>Simulink-Modell der Regelstrecke</vt:lpstr>
      <vt:lpstr>Simulink-Modell der Regelstrecke</vt:lpstr>
      <vt:lpstr>Simulink-Modell der Regelstrecke</vt:lpstr>
      <vt:lpstr>Simulink-Modell der Regelstrecke</vt:lpstr>
      <vt:lpstr>Ausblick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Richard Mende</cp:lastModifiedBy>
  <cp:revision>27</cp:revision>
  <dcterms:created xsi:type="dcterms:W3CDTF">2019-01-10T16:04:56Z</dcterms:created>
  <dcterms:modified xsi:type="dcterms:W3CDTF">2025-12-13T23:15:57Z</dcterms:modified>
</cp:coreProperties>
</file>